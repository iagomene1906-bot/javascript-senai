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6.jpg" ContentType="image/jpe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7.jpg" ContentType="image/jpe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7"/>
  </p:notesMasterIdLst>
  <p:sldIdLst>
    <p:sldId id="256" r:id="rId5"/>
    <p:sldId id="294" r:id="rId6"/>
    <p:sldId id="309" r:id="rId7"/>
    <p:sldId id="301" r:id="rId8"/>
    <p:sldId id="304" r:id="rId9"/>
    <p:sldId id="302" r:id="rId10"/>
    <p:sldId id="303" r:id="rId11"/>
    <p:sldId id="305" r:id="rId12"/>
    <p:sldId id="306" r:id="rId13"/>
    <p:sldId id="307" r:id="rId14"/>
    <p:sldId id="308" r:id="rId15"/>
    <p:sldId id="277" r:id="rId16"/>
  </p:sldIdLst>
  <p:sldSz cx="20104100" cy="11309350"/>
  <p:notesSz cx="20104100" cy="1130935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Montserrat" panose="020B0604020202020204" charset="0"/>
      <p:regular r:id="rId22"/>
      <p:bold r:id="rId23"/>
      <p:italic r:id="rId24"/>
      <p:boldItalic r:id="rId25"/>
    </p:embeddedFont>
    <p:embeddedFont>
      <p:font typeface="Montserrat ExtraBold" panose="020B0604020202020204" charset="0"/>
      <p:bold r:id="rId26"/>
      <p:boldItalic r:id="rId27"/>
    </p:embeddedFont>
    <p:embeddedFont>
      <p:font typeface="Montserrat Light" panose="020B0604020202020204" charset="0"/>
      <p:regular r:id="rId28"/>
      <p:italic r:id="rId2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121"/>
    <a:srgbClr val="C1272C"/>
    <a:srgbClr val="1A1A1A"/>
    <a:srgbClr val="E1E1DE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25CEC4-6D3E-140E-33B6-7E072C3A3013}" v="2" dt="2024-02-23T14:22:06.65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5" autoAdjust="0"/>
    <p:restoredTop sz="94660"/>
  </p:normalViewPr>
  <p:slideViewPr>
    <p:cSldViewPr>
      <p:cViewPr varScale="1">
        <p:scale>
          <a:sx n="49" d="100"/>
          <a:sy n="49" d="100"/>
        </p:scale>
        <p:origin x="869" y="91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9747-3772-4A23-BC7F-EC6DD8AB86BF}" type="datetimeFigureOut">
              <a:rPr lang="pt-BR" smtClean="0"/>
              <a:t>13/03/2025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33ED8-2499-486A-8015-31166144DB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5051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85396-080C-A596-8732-7B8EB4FE1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6A775F8-3902-7950-DD8B-96F09F062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48C5395-4631-529F-207C-335A30394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B8F360-86F0-E2D0-9817-B13A54AE5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33ED8-2499-486A-8015-31166144DB2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5323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2C9B1-77CF-9F5A-E099-66166E5B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51D9853-AD69-8A5C-65F4-6C7F9587A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95CFEA6-031A-F8D0-BDA5-E59558386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536A6D-F99E-3457-4D79-CD24E81E8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33ED8-2499-486A-8015-31166144DB2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563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179FF-4163-1210-1F77-6E4E7E52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7A1057D-FE78-EC98-BA52-722EFD6BD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95E3F4D-DF99-F9D8-3A0A-B2C03A218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8B01B0-6FF0-4CCD-6723-BF2F677F6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33ED8-2499-486A-8015-31166144DB2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8698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C8E95-7390-A7D5-368A-EF222C9EF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32C7F7F-C9B7-2791-C2D4-6A57E1250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D7A3EE4-42B3-1AAC-0304-A725A177E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5E8D20-5178-0C00-CD4A-94E253B0D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33ED8-2499-486A-8015-31166144DB2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528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68BF8-966B-E89F-E5AC-05EA05631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41F3DD8-BD36-4A8A-5333-4DB5E468B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018A0A-EE96-6F7E-308E-ECDE30104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034D02-FC61-D165-8263-3010A0002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33ED8-2499-486A-8015-31166144DB2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7522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04E8D-DD0C-D3F7-E912-D8E53C7A6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0334DF-CCB2-CA9D-FAD0-C5EFCBFB7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C4EA706-1855-E9AA-724A-84D0D53B9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6D55A5D-CE86-8C35-A830-60DBE72B6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33ED8-2499-486A-8015-31166144DB2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5293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D17A5-54B7-57E5-1FB9-0C6BAA554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672B1E-8C89-3370-0603-678F6990E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C19296-9887-F898-9C7A-56DFD79D7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2FC0B6-EF4F-1677-627F-1702992CA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33ED8-2499-486A-8015-31166144DB2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55862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33733-C909-1A91-10E3-D7B12CACA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E6CEDD-C2DA-D9A2-4622-34A782CF7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C2D9E9E-C670-C1FF-825E-DAD982F1A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D84897-E0EE-8937-0CDF-8C68FE678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33ED8-2499-486A-8015-31166144DB2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005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A9F86-4890-36E4-DF20-1276F96F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6B7FF1F-3011-89FA-9CB7-4229B1D3A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8742569-10F4-2D05-81E6-FDCE0FD44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F0DFB8-B360-A6E8-772A-E3098BF0E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33ED8-2499-486A-8015-31166144DB2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5401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F8E5A-7170-21DA-9C59-8A3747CD4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E002A95-3F68-AC74-CDDA-4C98B08F6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CB29A81-F344-BD1E-014F-2AED17C66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F336A23-0F78-16D1-2F03-02C023640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33ED8-2499-486A-8015-31166144DB2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0646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972"/>
            <a:chOff x="0" y="0"/>
            <a:chExt cx="20104100" cy="1130897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0650A-382B-061E-71E9-B09D58950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1C2D6A-EC7C-D415-D38E-3A0D5D87349A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F430C83-0B53-BE72-0A62-8EB2C7473580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F93093A-2BA7-38C6-A365-C0B830D30EF8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5C8F621-52D7-1CAB-8EB9-9AAD1E3909E6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E6302DE-8943-B84B-44D8-D15F4ED53792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4CF5485-CE73-492A-FABD-15EB55CE3B81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18214F8-1E96-AA32-F204-2549A8121C3A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C0CAB4A-AD2C-E5B6-3C40-9F8DBEA1F88A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64586EF-B943-A30D-9DA4-F3C87EEB2B5B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1B0323B-5D23-044E-5198-550318B18ABF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74FEB889-5736-53DC-2FA7-11A929C83D41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392F94F3-E5AF-4D8F-288B-19C6B9F4EF24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FE8D50F-B5BE-C99F-107A-ADABACB1A28B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6C233BB-11AB-55FA-8564-8D57F38B6C39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EA22CA3-97A8-1B34-6988-3A57AC4C442E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73C51A2-A484-70DE-251B-12CE7A10D287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8064E59-589D-9362-24C2-6E06C9FF64E7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7C74ED5B-19EF-1931-78A4-6833CD126BFF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BCF36BD-CA52-558E-3330-097797142413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6CDFFAEA-E3C2-7191-F922-53F0EC5386CD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DF3F33E5-063D-C63A-8CB2-E4C71D0A790E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1F8F86C0-8EC0-E6CA-D327-A2E802BB048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C0647834-28FF-5323-4BF0-6D6734500F98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FA119DC-4150-EBA0-3E97-83A7B09C68E2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D1DEC920-A55C-45AD-31ED-4A0FD53C4A28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B6AEB47-41DB-1425-970F-3B2B090B66F9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A3B8A727-9E70-2823-A541-CE9777B97C15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6E6C1D97-A543-6C08-28BC-BF122FEAF5A0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331ADEFA-1597-BDA7-2F37-F17A4A4B4AF9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2027EE1-B15A-4336-B6CC-F965CF90B5E4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33541CFF-0F3A-B0BD-D082-2EE0847F9480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78423715-8989-1970-CE0F-7C46B3328FA1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06F1AF8A-D95D-59FB-0233-2D767BC8EAB8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CE44A942-97E2-A8CC-6EB0-AC42FA584F83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A6FD561C-154A-BB8E-57D0-FB03399192D8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5417AE6F-7140-BA97-D744-5028FEA6BE36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8A8CB1BB-D767-4890-4091-296596F23F52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AB347F1F-E241-BBF1-CBA0-0EE822D86811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AB761586-68D6-9672-F71A-53312AB27FFD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E2A3147E-54AE-8342-5BA6-680728301668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F988D4BA-8FFD-6F1B-DB8B-A7D0643D5C5A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17CEE589-3360-671D-5482-5AA7475E39C5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676FAE60-6D6A-C0A4-6383-4490EBBCFF65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6FB2FB27-EE53-0C98-A81C-74E9DA9983D1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3AE5F4C7-8FC1-B21D-EF8F-657346DB9EA8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2E3A8D6F-C0FA-8D98-7794-82DBC0CCBEF4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0067492A-5320-284B-6F7C-1ABA450AD819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67DE056F-496F-6AAE-F947-6FC3A5E11C2D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30468CD9-9B18-FA2E-70FE-7B7AEDAF6D5A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FA84C4DE-6523-5EC0-9D61-05899681E9B7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43E78B94-39FB-1654-E548-D2171E03A09B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78CB421E-69BB-DAE7-4253-9B9BEE3DD05B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E6AC9CB6-2280-243B-F830-6A102D85CC26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166ECDE5-4108-4C76-17B1-BC4718267DE5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56F32028-5FD6-D02D-4671-F154F5E29206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67F28769-93BA-9648-69B2-E258DF199510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B407B786-4A84-A3E6-A6C1-150F6D1DBFEE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52ECCD97-B8A7-2AA6-45BA-1C17E1EAFCC0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742C5247-2EB6-F5D7-2B0A-A2BB18C89BCF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EEE322B7-2BAA-F5B0-70F3-7F96054F4A03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0D14F10B-5C01-F61E-0010-89A2C0C841BF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1F966811-6B98-1B20-1566-CEE2BF986BFC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EF3FEEF3-985F-653A-5472-EE06BC0C7E92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8DD6475F-DD6C-42AA-C274-27C0C594B1D7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6BDC6D13-0C81-91AF-B992-E8F3BE42C8E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F4008753-EFBF-D86F-9E98-1F60AA76D8B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15B2ADFF-407F-6E3A-680B-9F4DEECFFDBC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639AF91B-7427-ED35-43EA-72674230C7F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2A746165-5222-8110-D717-91E68D49682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15">
            <a:extLst>
              <a:ext uri="{FF2B5EF4-FFF2-40B4-BE49-F238E27FC236}">
                <a16:creationId xmlns:a16="http://schemas.microsoft.com/office/drawing/2014/main" id="{FB26E197-A31D-0ADC-0C9D-A9290D61AC83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1590984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 err="1">
                <a:solidFill>
                  <a:schemeClr val="bg1"/>
                </a:solidFill>
                <a:latin typeface="Montserrat ExtraBold"/>
                <a:cs typeface="Montserrat ExtraBold"/>
              </a:rPr>
              <a:t>Git</a:t>
            </a:r>
            <a:r>
              <a:rPr lang="pt-BR" sz="4950" b="1" kern="0" spc="-15" dirty="0">
                <a:solidFill>
                  <a:schemeClr val="bg1"/>
                </a:solidFill>
                <a:latin typeface="Montserrat ExtraBold"/>
                <a:cs typeface="Montserrat ExtraBold"/>
              </a:rPr>
              <a:t> e GitHub</a:t>
            </a:r>
            <a:endParaRPr lang="pt-BR" sz="4950" kern="0" dirty="0">
              <a:solidFill>
                <a:schemeClr val="bg1"/>
              </a:solidFill>
              <a:latin typeface="Montserrat ExtraBold"/>
              <a:cs typeface="Montserrat ExtraBold"/>
            </a:endParaRP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A11B4C27-ED54-D368-4575-ECAA1C93E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switch case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é uma estrutura de controle de fluxo usada para tomar decisões no código, de forma parecida com 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Ele é útil quando temos várias opções para uma mesma variável e queremos evitar escrever vários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seguidos. 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 descr="Git · GitHub">
            <a:extLst>
              <a:ext uri="{FF2B5EF4-FFF2-40B4-BE49-F238E27FC236}">
                <a16:creationId xmlns:a16="http://schemas.microsoft.com/office/drawing/2014/main" id="{5773FB68-4431-C35B-9469-9D18285E7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050" y="3157680"/>
            <a:ext cx="5792531" cy="5792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itHub Service | Princeton Research Computing">
            <a:extLst>
              <a:ext uri="{FF2B5EF4-FFF2-40B4-BE49-F238E27FC236}">
                <a16:creationId xmlns:a16="http://schemas.microsoft.com/office/drawing/2014/main" id="{C72931D9-7BDA-98DD-594F-51D2F13E5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250" y="3157679"/>
            <a:ext cx="6785540" cy="5792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4028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91105-47E7-AE33-46E6-6DF5BCB53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7FAA3A3-CF18-3824-4435-743BE8412D46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164217D-6665-BCC6-29D6-CF7EF202BF88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9BEEC20-466A-D04C-9CAB-BED75DC7E688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DA71F86-1A87-F05E-005A-3B3E0E803603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C5FF43E-8C90-D2C1-8F4B-492F484F504C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5376341-5353-4081-AF52-B5BF16338731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B2F3F06-A4B9-FC93-A7AF-FD4E14983ACE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0146556-A25B-BA5D-893A-41CB4B0FF99E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47868E2-0FB6-0A8D-FA62-E224994668E6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CB70B38-0FB4-5EFE-5A6E-A2036C24BE15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36D7C46-1E24-384A-01B6-187B723E157C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2C8EE17-3258-1779-8742-BA8C22AB6332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A4B7B262-AA05-BE37-33BA-92922E921647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C6F5C0A-1774-5308-EA30-BF65AF2EFC6C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B98BAA4-3D21-F506-13A1-A1F4B108A71B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4F92BA43-8EAC-4D80-0C80-CF4A44F043AD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02F1686B-EAF7-ED60-89A5-93E2CC7FBDB4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DED72E0-13ED-DD80-D304-32210C2CEA96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BE62AF02-4C39-93B2-3BA3-5E5DB2B2D6A7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A2281BB-9918-D754-AD79-5FC3C4BBCB09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5CCD7E9F-6F45-4690-5DFD-E13A4E520E89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6C577354-7D6A-DCA9-0479-2FC2AAD80DE2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D592430-6D2E-469B-DC6B-74D95DEB483E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A16F83C8-DAE8-C5DF-ED45-6E52AC3FF963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BC87CF76-1C4A-62A3-5B2E-94B9E45C0008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FBB20B05-D40C-45BD-5EBE-E2E189001C13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7EDD3B9-2D41-7F00-2914-490F8B9AAEA5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2B5CA65E-8872-B7A1-D60B-E4D12E501707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971787F1-5A58-7314-394D-1CFD2B624333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86B7A140-F94D-A784-F295-BEB21FF6A1C0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6FB3949B-5270-257E-619D-B81B359A99FE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A8BF2E65-04C2-1BE0-0DAA-FA9B942F8578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366B67F6-D879-FBA5-C55C-9C6389511139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F64F3AEB-B229-35C3-51DB-4FAAD3A667D9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40E24044-805A-F455-2E29-2225ED0EBB76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E5FCE874-DBE8-E433-404A-6586763901A3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0BD3FD99-6501-7C32-FA54-4981D82C103C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F79251BC-C457-965C-3287-0EC582FDBCA5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781E13CF-9220-6C48-49FA-16B63608E4E2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21089E20-5DC0-6D6A-7ACA-D897AEBBB4BC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D779D3DE-6A13-D3C7-5964-8B912A044C12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8829B36C-9035-986A-92A5-54C2696902C8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E81D7819-8F01-3CDA-28A5-C5472B622FF7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6689B5AF-D903-21E2-FD9E-13C3400F6C2F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1DAC90BD-43F2-34E1-2F55-EDBFE7B644AC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B971EF45-AC06-A037-2568-68305215B00E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58FB47A9-7CD4-1519-3A86-69A15C0B132D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AEC7E66F-EB64-B786-6CBD-0C923B7EC4C3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90ECC90B-B054-9B21-6AC1-697AACCA8F14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39A6197A-66FA-383B-C3BC-0A5A290097C9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BB9C84CB-696D-9F94-D170-F9B4717213FE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01EFE2B0-D5F0-0297-2FB2-92D184868F99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C3D417AA-C023-B554-DBE8-9D262B5F24E6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1103044B-E99E-B355-222C-668090249C3E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02A3803E-A7A4-523D-C52E-3D472C568ECA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EB4B0CF3-CB3B-8FC3-ABD2-60652DD155FF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1668C951-238C-3715-05DA-EDA78EB2C02F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35DB9AB2-B3A2-16D5-C26C-A982A07C7B48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22BAD305-4FA7-078B-91F1-F048BD7F0958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DAD2BEB5-0FC5-45BB-7508-612BD3248763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E8C29EF0-F40A-549C-2C0C-49D76784324C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906073E3-26DF-09F1-F581-0D729DF39891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45227B88-BAC2-9DD0-A4C6-9AC42386E1F2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E8995192-39BE-CCAA-9D11-7A170C8D3082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7A58A6AD-EEBC-08AA-655E-FE50B6695DE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5DFE0CBF-7750-0361-9C58-3DDBF2301D2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035A914-D1B0-9156-B4D8-31254E8E7FA0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F0A4C88-F03C-81BF-06BD-0393E611AF0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D70F04CB-672F-8E27-8B2B-B3DBE2364EF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15">
            <a:extLst>
              <a:ext uri="{FF2B5EF4-FFF2-40B4-BE49-F238E27FC236}">
                <a16:creationId xmlns:a16="http://schemas.microsoft.com/office/drawing/2014/main" id="{805332D9-042D-48A5-A6FF-26B1F841ADB5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1590984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 err="1">
                <a:solidFill>
                  <a:schemeClr val="bg1"/>
                </a:solidFill>
                <a:latin typeface="Montserrat ExtraBold"/>
                <a:cs typeface="Montserrat ExtraBold"/>
              </a:rPr>
              <a:t>Git</a:t>
            </a:r>
            <a:endParaRPr lang="pt-BR" sz="4950" kern="0" dirty="0">
              <a:solidFill>
                <a:schemeClr val="bg1"/>
              </a:solidFill>
              <a:latin typeface="Montserrat ExtraBold"/>
              <a:cs typeface="Montserrat ExtraBold"/>
            </a:endParaRP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0F049CD8-427C-A285-725B-A00672125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switch case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é uma estrutura de controle de fluxo usada para tomar decisões no código, de forma parecida com 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Ele é útil quando temos várias opções para uma mesma variável e queremos evitar escrever vários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seguidos. 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8" name="object 16">
            <a:extLst>
              <a:ext uri="{FF2B5EF4-FFF2-40B4-BE49-F238E27FC236}">
                <a16:creationId xmlns:a16="http://schemas.microsoft.com/office/drawing/2014/main" id="{E2B0B817-8520-3A35-D6CD-B8E215AA836B}"/>
              </a:ext>
            </a:extLst>
          </p:cNvPr>
          <p:cNvSpPr txBox="1"/>
          <p:nvPr/>
        </p:nvSpPr>
        <p:spPr>
          <a:xfrm>
            <a:off x="1611605" y="2538314"/>
            <a:ext cx="8440445" cy="168635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O </a:t>
            </a:r>
            <a:r>
              <a:rPr lang="pt-BR" sz="3600" dirty="0" err="1">
                <a:solidFill>
                  <a:schemeClr val="bg1"/>
                </a:solidFill>
              </a:rPr>
              <a:t>Git</a:t>
            </a:r>
            <a:r>
              <a:rPr lang="pt-BR" sz="3600" dirty="0">
                <a:solidFill>
                  <a:schemeClr val="bg1"/>
                </a:solidFill>
              </a:rPr>
              <a:t> é uma ferramenta de gerenciamento,</a:t>
            </a:r>
          </a:p>
          <a:p>
            <a:r>
              <a:rPr lang="pt-BR" sz="3600" dirty="0">
                <a:solidFill>
                  <a:schemeClr val="bg1"/>
                </a:solidFill>
              </a:rPr>
              <a:t>Podemos alterar e gerenciar nossos códigos, através de uma linha do tempo.</a:t>
            </a:r>
          </a:p>
        </p:txBody>
      </p:sp>
      <p:pic>
        <p:nvPicPr>
          <p:cNvPr id="71" name="Picture 4" descr="Git · GitHub">
            <a:extLst>
              <a:ext uri="{FF2B5EF4-FFF2-40B4-BE49-F238E27FC236}">
                <a16:creationId xmlns:a16="http://schemas.microsoft.com/office/drawing/2014/main" id="{A1368FAC-C68C-0872-390E-D554BCCC1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5050" y="3157680"/>
            <a:ext cx="5792531" cy="5792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0733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6621E-64E6-1733-B33F-7D7ACF5CC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6C1D12F-43FC-E62E-D91C-34EA8A6F6742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0BEC419-0F65-0498-2DA0-FFB4ADC4B561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E139ABD-68D0-E732-0AB8-53493FF07191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3C8A75A-181F-730A-E660-ED33E31ED2DA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C80898B-E824-C9B4-04D4-428EE9B001B9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4F53DCC-D630-5B52-5854-67455B1D7A76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28F8706-5BB8-9E96-656F-B46A6BBC27F8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E40F8E0-8B83-103D-F3F1-B1DF9B38FFA7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68BB490-6309-0A63-6AE9-58831CC96A85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7DB812B-90C0-9E0E-9798-35C46233766D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17CA383-BD68-9B97-BDEC-23E5B9A33AC5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A513023-58F5-1C64-9721-F41ACF47DDFD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0A46D63-35DA-F3FC-CC67-3215117359B4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4301B55-FB94-3076-2080-90BD30921D93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2C4B6FCA-E7E7-627A-2F0F-A2FCBBC8F29C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DA612A01-A63C-2B4C-5D45-D0BC99578705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A76B6D08-CBBE-C909-5486-BA8BA9B892D4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008A84D8-2501-762C-7B29-B1955321C31D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3CD0451-74C3-CAA3-9592-127648A14FFF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98BE949C-A230-F708-4D49-AD37860D181E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D7B1A93F-3F0A-4744-3342-8A7C210655AE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36AD704A-2E77-7D42-B715-A8010A8584B0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80F9BBA3-BC2F-01D2-3AF7-11F98DB4CD7C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3D38755F-6234-7D16-F51A-3476F74F5769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4424E6B3-28DB-2AC4-6824-C6867A51B8B5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7109D146-863B-C008-1FE5-5AC3B92376D3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6EA1018D-7665-2DE3-38F0-E2617CB8F3E8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F167937C-773C-E464-E2E4-9E537DFA2EB2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D26B5146-0DE2-B166-02C4-C6231428803F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209B17EA-FD16-B350-8292-1FF86119E380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E1E9E33C-29BC-9FF3-1A4B-FBF18F4A5982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D08C8DDA-3756-8E15-61FC-F42BCE19E3E9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52DAB910-76EE-AB28-AE54-6033D2511DA5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23831D76-75DE-409F-26B0-3A4272F522EC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6AD0B32-0542-EC3C-741B-D572F093089C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F4E728C3-AF01-5358-9F79-29B5854DA117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CB5B5438-4C25-DD5A-3510-670A3432F5AD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2C444B20-8EC5-2EE6-5D4F-ADC2A04455B9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20394024-B7B5-B31F-446C-3D33E8D832A5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F7703DE1-C845-2D63-9CFD-82B4801283BD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B8A726AF-9333-3C3E-F70B-A6864CFFFB9E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6DFA2BBB-B64B-462D-17C6-31AF9B9C86B3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AFDD9073-89CE-17DF-E5DB-FEB9F64F872E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7E4B6F9F-7EA2-A96C-735A-313F1EE24ED7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5B720D99-E31E-6F10-90BF-E6B51C9E2E3F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F185BAED-6091-4E62-AC43-66D33657BFA4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B1651D51-000F-1886-0282-5487B1074DC6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61EB9E17-9A8F-2F52-C2A6-2EBE0BE8FB2E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D9D427CE-7A24-BAC7-3611-F8FBB26DE4F8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168438FA-6214-8A96-64EA-38C4A5425F8D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0E1B3294-690D-8CD4-2B8E-430431B2D84C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B993AC49-C0BD-C0FE-645E-9DDEE7B1CD2A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D7EAC4F4-8115-57A0-405A-563A504CBE3A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A6E05D22-AD7C-B822-F581-5B51381DE1DA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9C05D994-5A03-54E2-4600-0ED72F317A87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D3E217A2-B2CB-5CDB-8B00-EE5BC318813C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FA7424E6-8E95-B4BD-A69A-E8C59A07EC52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AD4BB3A4-CD61-0406-93B3-5B684FD03CBD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15355F66-DD97-D5C2-D161-EC221C7074E6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20D84CF1-A8A0-EF48-1AB4-E93FE5872CAB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E0FC9944-A01C-515C-957A-51E8089A6745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CD7BFA01-3513-276B-6DCE-34A4B66E9E04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AEC58C2D-341B-C792-D651-DA949563EDF1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49B5ACBB-0AF7-EE20-5741-BFA115AD3C1F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1D5B21A9-531D-BC48-ED45-B34DCBD4D43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BBB33799-02DF-F7D5-B12F-743D7FBF66A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1CA64413-A6A3-6152-84B6-EF68638B5BFA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AC629C77-8B05-3990-7185-9977D79FADB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F062B22A-D4C5-4795-1A7D-8BA08903D21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15">
            <a:extLst>
              <a:ext uri="{FF2B5EF4-FFF2-40B4-BE49-F238E27FC236}">
                <a16:creationId xmlns:a16="http://schemas.microsoft.com/office/drawing/2014/main" id="{FC95C9AD-EF89-466C-A057-5A337910A94D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1590984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 err="1">
                <a:solidFill>
                  <a:schemeClr val="bg1"/>
                </a:solidFill>
                <a:latin typeface="Montserrat ExtraBold"/>
                <a:cs typeface="Montserrat ExtraBold"/>
              </a:rPr>
              <a:t>Git</a:t>
            </a:r>
            <a:r>
              <a:rPr lang="pt-BR" sz="4950" b="1" kern="0" spc="-15" dirty="0">
                <a:solidFill>
                  <a:schemeClr val="bg1"/>
                </a:solidFill>
                <a:latin typeface="Montserrat ExtraBold"/>
                <a:cs typeface="Montserrat ExtraBold"/>
              </a:rPr>
              <a:t>: Linha do Tempo</a:t>
            </a:r>
            <a:endParaRPr lang="pt-BR" sz="4950" kern="0" dirty="0">
              <a:solidFill>
                <a:schemeClr val="bg1"/>
              </a:solidFill>
              <a:latin typeface="Montserrat ExtraBold"/>
              <a:cs typeface="Montserrat ExtraBold"/>
            </a:endParaRP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0571443C-B885-DF41-DC9C-5395CF1E6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switch case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é uma estrutura de controle de fluxo usada para tomar decisões no código, de forma parecida com 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Ele é útil quando temos várias opções para uma mesma variável e queremos evitar escrever vários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seguidos. 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" name="Imagem 70">
            <a:extLst>
              <a:ext uri="{FF2B5EF4-FFF2-40B4-BE49-F238E27FC236}">
                <a16:creationId xmlns:a16="http://schemas.microsoft.com/office/drawing/2014/main" id="{F88EC4A9-48F7-6BDB-A6E9-27A0A7885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065" y="3659414"/>
            <a:ext cx="15595970" cy="529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713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978A7-758D-4873-FB16-7DA3B26D8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0B9D116-B908-EDEB-9793-A8F50A184787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00F33F2-7329-A740-EDEC-7FD82D4DF204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F7465E1-E229-EA2D-A5B6-3E20D4216DAC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3E7B4BA-314C-B3B5-3034-484C3A6D0888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FFD725E-8D47-C46A-ABA4-5E23548714B4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826E89F-3E26-EB39-BD91-8907D14CB5DA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56DE0A5-07F0-ADFB-9224-A837D889625E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E697A09-11AF-ECFC-09C9-3E59068BA81C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1191DAB-85BF-D717-A43F-C1B6D2DC1663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EB0192A-737B-61E0-38F3-FF0831D09755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6A76400-3A10-C0B1-8F57-C609B8D96D35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A9DF9AA-A031-F6B5-EDAE-D70358E530B8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11FE8C3E-012F-9714-118B-FCB056984524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D6A6DC5-6637-4B68-21DA-2280159DADAF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4EC8CD8-2D1F-C167-2FE4-FB24A6863F3C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A6475434-66BF-BD99-3BF2-2968F1F316EB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831D895-83E4-D2DD-AD5C-06A0D76B0C52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ED29CC25-0D3A-DFE2-F100-0BE151C87443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ECB75A7E-CF6B-5ABA-41C1-D91CD40561D4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439C110-EABE-D63A-CA99-A71D48FA7D0F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47F6A4B1-FF6E-8B3F-BC84-9F9D29C8662F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0B182304-4AF1-52DA-7D54-341B1F521EE9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7BB040B-1383-A0E3-6725-E94EA78CF0DC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CBF235D3-C2CC-8F0A-513E-97FD796CE236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7B731555-D21B-7992-C7F8-5208F7205BAF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70C4FD67-A3D8-9BD9-B089-D3130D7AFBC1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BD0D6C06-D20F-D3C6-8F0B-9C34F581131E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3A9617A7-C135-F612-F3CB-CD620EFF5323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41A8238D-2497-92AC-0C0E-1E4C75866DF9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6E6B0968-AC85-7085-CDEC-F7E656F0D43F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EE1E7FB6-9BBF-2873-6089-50B4FF348076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F9BF7D35-E699-4C36-36A6-DB5688023EE8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93BD2F0F-4ACF-9D06-EE43-52F50FDE62A0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B97141A5-C6DD-3E3C-8033-ACCCC082FCA6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62BB20A4-2633-195E-0F4D-75FE82F86FBD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7FD19E7E-60DB-F4C3-A889-3DA0DDEFDCBB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708CB786-833B-A56B-C59B-24BC727217C0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34B73998-3CA3-9510-F420-74B84A7C95F3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009A3851-97D9-1658-BD0A-EAC59030C40A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4E1D8B47-0D2C-2851-0EF9-73229B5AAA7F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969D6D72-B4FD-B584-112B-364C74DE671B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8D1FB28B-46E9-D3BE-7A10-DAEDD7C32721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E2DF3BEE-7CC5-CB50-7B7E-ADCADC1602C9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09EA6B74-59A0-F74E-5051-141ED94B414E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6E6DB5F3-F203-1917-E6A5-18CEB3216319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19E44E73-7A56-C5D5-1BA7-8CF52D9AE209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CF2B4A0F-A362-8C7B-1D9F-EFA17FAEDA16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E9E87149-B719-546B-4466-0AB5ACF1CD85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6036D6C9-F96D-A95A-D6F5-A53E0CD1B458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9DF8149D-38B8-A99C-F682-EC16E38E59FF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3ED5811D-7F3A-4BF1-60D4-35E9B973E121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87AB4367-495B-1620-D5DE-FE30FF21C5AF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C643B0AD-2E94-A1B6-6FE0-E8013CAA1E3F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70164C33-57F2-DDE9-6ECE-9EB44CE9CAB1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24BB1FAB-DA1D-48D3-EBE1-3AC09F20F7CE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42B75EDA-4B1F-D481-A7B4-7E59541235BC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57F7B7B3-7DD0-63AC-31B8-43BCBDC02A0A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E3AF1A84-D210-4DD5-7799-C514890D6A68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BEC773C0-8792-C971-BE87-B58AFA878AE0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EF1FBF06-AB90-9AAE-8603-6CBEBC6A1B77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A6CE9FAF-2D99-D22F-89E6-3296320CEFCE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673FCF44-43D1-1699-A368-972B020FA941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EA4073F4-82D3-0396-D8AC-DBAA0AD50F44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12DA4570-D684-E868-EB92-22C87E73CA87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580ADC49-6531-246D-47FC-95642D01D12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8D2A98E2-C420-2E48-BA5C-6AE96F1E133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4FB52720-51C5-AAB2-0255-98406DA14028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71244FD1-DCFD-F85E-3080-8441B2E223B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015E6431-E414-7F76-C91B-9CCC336411D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15">
            <a:extLst>
              <a:ext uri="{FF2B5EF4-FFF2-40B4-BE49-F238E27FC236}">
                <a16:creationId xmlns:a16="http://schemas.microsoft.com/office/drawing/2014/main" id="{97100A46-B904-C890-B9CB-53EA77579697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1590984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 err="1">
                <a:solidFill>
                  <a:schemeClr val="bg1"/>
                </a:solidFill>
                <a:latin typeface="Montserrat ExtraBold"/>
                <a:cs typeface="Montserrat ExtraBold"/>
              </a:rPr>
              <a:t>Git</a:t>
            </a:r>
            <a:r>
              <a:rPr lang="pt-BR" sz="4950" b="1" kern="0" spc="-15" dirty="0">
                <a:solidFill>
                  <a:schemeClr val="bg1"/>
                </a:solidFill>
                <a:latin typeface="Montserrat ExtraBold"/>
                <a:cs typeface="Montserrat ExtraBold"/>
              </a:rPr>
              <a:t>: Linha do Tempo</a:t>
            </a:r>
            <a:endParaRPr lang="pt-BR" sz="4950" kern="0" dirty="0">
              <a:solidFill>
                <a:schemeClr val="bg1"/>
              </a:solidFill>
              <a:latin typeface="Montserrat ExtraBold"/>
              <a:cs typeface="Montserrat ExtraBold"/>
            </a:endParaRP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518D0C11-4986-C275-DE29-2F775AB27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switch case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é uma estrutura de controle de fluxo usada para tomar decisões no código, de forma parecida com 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Ele é útil quando temos várias opções para uma mesma variável e queremos evitar escrever vários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seguidos. 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7" name="Imagem 76" descr="Diagrama&#10;&#10;O conteúdo gerado por IA pode estar incorreto.">
            <a:extLst>
              <a:ext uri="{FF2B5EF4-FFF2-40B4-BE49-F238E27FC236}">
                <a16:creationId xmlns:a16="http://schemas.microsoft.com/office/drawing/2014/main" id="{5ED900B7-1805-6547-6167-7B2DA1E0E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512" y="2586556"/>
            <a:ext cx="7983076" cy="767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762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E1670-53F4-9641-FDF5-CD328E6F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35D3D2-6B97-AD85-1F52-D3CEB29D78D5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0805892-1941-5901-43C7-691A8911B969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87F14A2-1555-437D-5F76-7594FEBEC35B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5492B14-EB2B-133C-7BF5-7CFA2C51AA46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30926D8-252A-5F58-E276-73E5A1C0D26E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1873AAE-759E-A333-6103-AFA6683A0EBE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9D84D51-16D4-C5EC-C5FF-ADC5F4A02353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F14E77A-91AB-6414-BAF8-680365818C39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93483B3-9861-ED70-4660-24042EE837BE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3784F9C-520F-0933-4043-3B3F1731764B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8BD9D8B-F5B8-D64D-3F4E-612B223CDA07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060B1AF2-4FD8-8845-CB02-8BB09BE4E562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B199669-4573-D3D9-90B9-0D31795DA843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6E17589-7F06-4406-4852-B8F93E577B51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294F7DA5-E6A0-6C61-447D-1A4A867881FB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BA54728-B900-B6E5-2742-4E9436D18BF8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D49CEAFB-A16B-CE72-3C0A-F6B5E3ABBAFF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109364CC-4FAF-84E9-1DCC-B1AC83F45660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3B207BA1-BB6E-194D-9E37-5E6B79A79B4C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5A4AF19-3CB6-BA0D-97A4-5BA1ED63B54D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0CF14B64-6DF3-624E-B3EC-09D8DFD3A374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143A9C4A-126C-8153-801C-5AB6A1CE115F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5E1E6688-EBE9-FA03-55E3-4DC6B2AD363E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E845E442-FCA8-70BF-E3A7-4DFBB4AB027C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BF5B6D13-B685-D340-5F5B-D6DD40171C3B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35724B5E-839C-71F3-950F-4E57886CAE23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CD78337D-1999-C1A5-1D54-65228AD648D9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3CCD8A70-F7A6-D341-9703-A4C43F4E37E0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BF143DEC-51BD-E909-91FF-A89810B22473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8E92BB81-3698-58D0-63D0-B8570642DBF4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F0D712E6-8ECA-329E-6700-05D237EF16E3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CA4AE5F2-1F94-9873-FB20-C29AB7667BFC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8AA857F0-DC64-079F-FAAC-D6F25D125D49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C4C65B75-EF5B-2D63-6636-AEC923E7BE25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84B48B7D-5ECF-EBEB-8E12-1AE2AED22D1C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CD81B6CB-533A-B6F2-3D29-AC83702B9C3E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244CBBF8-3A5C-09CE-B97F-8594293E538E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E5495F2E-ACA6-96A3-C4A4-62A699873E27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39F52EB0-5A35-A879-E3E4-17440BED73E0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99956CCD-28A2-E110-BE7E-3A7ECCFFDE8C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07F58EC5-9774-1CA8-9E83-C0618256FD78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5FB53F40-5E39-11DB-0165-06F6ABF5BF14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EE774656-2820-3AEF-C7AF-B90F70F5A7EB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9E3BB546-A740-D9FD-7748-3CA022AD1F00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2ADE1CFD-1E45-850D-A412-A6EE23BDA669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AFB3156C-03BF-F339-A55E-1D13547B5C76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C67C57EC-1525-2D75-39FE-7580D1C27435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E7B6B3B0-3F30-0D35-E90F-E74185627606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4B07244B-955A-A706-834F-0C0051F356BD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8341C397-B4B7-F558-32AE-EEB98DB48629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75CB99A6-6D0E-07BC-3765-1EA61B0C26FB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20842273-D11F-701B-7444-0C07E6BEF43D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B914AEEC-ADA7-8A26-EA3C-1A989D0E74B1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F03C3056-A1F7-0EB6-8342-79AA375C9622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3D9931CB-E5E3-1AC4-6F51-F7ABBAD41C22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945B8373-348D-1029-82D4-5AEA16431D81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4ECFC44B-4E44-D96B-0716-1F601071F5F8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9F9164F2-C246-0EA3-903C-E621EE4C889E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01441B7F-07E2-07BB-D543-E73C08147341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83962494-E26C-E2EC-B390-758322D349D3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8DB86928-C434-AB69-13E1-40E58D51413F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81990219-6B2D-CBB3-E75C-478E0973A09D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094D9159-538D-E178-0874-55F05F08A0BE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2EB8D0F7-B70F-D7D0-2A29-4BDA06DA9A33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FA88A699-5241-AF08-01C2-317E8BFF88E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81C536F5-6200-F8C9-8846-A8851FCE2EC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9BAA93BB-C6FF-5752-B578-5824FA36F2F4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15ACDB45-7E57-5F6C-B148-D3A88FD08B6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EFDCD0D6-F355-3BB7-DF8B-494BD9E6945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15">
            <a:extLst>
              <a:ext uri="{FF2B5EF4-FFF2-40B4-BE49-F238E27FC236}">
                <a16:creationId xmlns:a16="http://schemas.microsoft.com/office/drawing/2014/main" id="{6EFB3EC7-59ED-49B9-AF31-B61B69B5BF42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1590984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/>
                </a:solidFill>
                <a:latin typeface="Montserrat ExtraBold"/>
                <a:cs typeface="Montserrat ExtraBold"/>
              </a:rPr>
              <a:t>GitHub</a:t>
            </a:r>
            <a:endParaRPr lang="pt-BR" sz="4950" kern="0" dirty="0">
              <a:solidFill>
                <a:schemeClr val="bg1"/>
              </a:solidFill>
              <a:latin typeface="Montserrat ExtraBold"/>
              <a:cs typeface="Montserrat ExtraBold"/>
            </a:endParaRP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0F58AF68-FA19-198D-D8E3-456F2E625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switch case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é uma estrutura de controle de fluxo usada para tomar decisões no código, de forma parecida com 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Ele é útil quando temos várias opções para uma mesma variável e queremos evitar escrever vários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seguidos. 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8" name="object 16">
            <a:extLst>
              <a:ext uri="{FF2B5EF4-FFF2-40B4-BE49-F238E27FC236}">
                <a16:creationId xmlns:a16="http://schemas.microsoft.com/office/drawing/2014/main" id="{2982B812-D7D1-BF5E-BD47-4A3431338D01}"/>
              </a:ext>
            </a:extLst>
          </p:cNvPr>
          <p:cNvSpPr txBox="1"/>
          <p:nvPr/>
        </p:nvSpPr>
        <p:spPr>
          <a:xfrm>
            <a:off x="1611605" y="2538314"/>
            <a:ext cx="8440445" cy="556434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O GitHub é uma plataforma online que armazena os códigos. Com ele, </a:t>
            </a:r>
            <a:r>
              <a:rPr lang="pt-BR" sz="3600" b="1" dirty="0">
                <a:solidFill>
                  <a:schemeClr val="bg1"/>
                </a:solidFill>
              </a:rPr>
              <a:t>criamos repositórios e hospedamos nossos projetos</a:t>
            </a:r>
            <a:r>
              <a:rPr lang="pt-BR" sz="3600" dirty="0">
                <a:solidFill>
                  <a:schemeClr val="bg1"/>
                </a:solidFill>
              </a:rPr>
              <a:t>.</a:t>
            </a:r>
          </a:p>
          <a:p>
            <a:endParaRPr lang="pt-BR" sz="3600" dirty="0">
              <a:solidFill>
                <a:schemeClr val="bg1"/>
              </a:solidFill>
            </a:endParaRPr>
          </a:p>
          <a:p>
            <a:r>
              <a:rPr lang="pt-BR" sz="3600" dirty="0">
                <a:solidFill>
                  <a:schemeClr val="bg1"/>
                </a:solidFill>
              </a:rPr>
              <a:t>Podemos </a:t>
            </a:r>
            <a:r>
              <a:rPr lang="pt-BR" sz="3600" b="1" dirty="0">
                <a:solidFill>
                  <a:schemeClr val="bg1"/>
                </a:solidFill>
              </a:rPr>
              <a:t>seguir e interagir </a:t>
            </a:r>
            <a:r>
              <a:rPr lang="pt-BR" sz="3600" dirty="0">
                <a:solidFill>
                  <a:schemeClr val="bg1"/>
                </a:solidFill>
              </a:rPr>
              <a:t>com outras pessoas, possibilitando </a:t>
            </a:r>
            <a:r>
              <a:rPr lang="pt-BR" sz="3600" b="1" dirty="0">
                <a:solidFill>
                  <a:schemeClr val="bg1"/>
                </a:solidFill>
              </a:rPr>
              <a:t>também interagir com o código de terceiros</a:t>
            </a:r>
            <a:r>
              <a:rPr lang="pt-BR" sz="3600" dirty="0">
                <a:solidFill>
                  <a:schemeClr val="bg1"/>
                </a:solidFill>
              </a:rPr>
              <a:t>.</a:t>
            </a:r>
          </a:p>
          <a:p>
            <a:endParaRPr lang="pt-BR" sz="3600" dirty="0">
              <a:solidFill>
                <a:schemeClr val="bg1"/>
              </a:solidFill>
            </a:endParaRPr>
          </a:p>
          <a:p>
            <a:r>
              <a:rPr lang="pt-BR" sz="3600" dirty="0">
                <a:solidFill>
                  <a:schemeClr val="bg1"/>
                </a:solidFill>
              </a:rPr>
              <a:t>Sendo assim, o github é muito semelhante a uma </a:t>
            </a:r>
            <a:r>
              <a:rPr lang="pt-BR" sz="3600" b="1" dirty="0">
                <a:solidFill>
                  <a:schemeClr val="bg1"/>
                </a:solidFill>
              </a:rPr>
              <a:t>rede social</a:t>
            </a:r>
            <a:r>
              <a:rPr lang="pt-BR" sz="3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6" name="Picture 12" descr="GitHub Service | Princeton Research Computing">
            <a:extLst>
              <a:ext uri="{FF2B5EF4-FFF2-40B4-BE49-F238E27FC236}">
                <a16:creationId xmlns:a16="http://schemas.microsoft.com/office/drawing/2014/main" id="{7B67DAE0-7DD8-4B9B-7035-1EC36F7FE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250" y="3157679"/>
            <a:ext cx="6785540" cy="5792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3190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B5C5-9677-1696-3442-2DFA8CDDF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B3768E9-3BD4-4FA7-BF28-9DDF7C6934AC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05D619F-B131-29D9-16C4-E449AD92DD93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FA3FE54-A7D0-785D-104B-EFED418B11A1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FE42BB1-CDC1-AD96-B8ED-8CB2F4B5D9DE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18EBC7F-6DFF-A1F3-AAA7-9E97993FFF95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341C203-635F-962D-D59C-E6D6AEA3E2FC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CB3D24E-0746-0B93-B803-05EF90A2FC82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89B70C9-1E69-E4F9-F690-ACEAEA2F0A5D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2CE39E3-889A-F4D8-BC2D-3C4182867529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9F93602-0295-FA13-8F63-BC965102872A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CB7B449-E1F6-B8F7-7A1D-8A91A2AB0C37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3149D7D-9470-8F1A-44C9-8F306AC041E5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51101DC-2DD1-1115-4233-5BDCC6FB9F8D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B3E634F-EF50-4CF8-6B35-73F82225CF84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FFF31082-AA8C-17E5-28AE-2FD5D94F5687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3AAA10F-7193-0DCA-5903-2A3000EDF15C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5EBB0811-35DF-8A42-5BFC-D233A44521AA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00930AC9-1DC7-FDDA-0AF9-A87EFEB90329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8B30B5F5-8AAF-246D-D50C-9F42EE7C749E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69F5E1B6-44FD-8AEA-3DBB-B2311DACC585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147B500F-9B38-490C-0EC2-4DC1CBC27C9B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D0E3EB48-256B-505C-0D83-EC353AE5013B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9F49CD1C-0904-E60D-E742-DD1DFA9A23B0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6C65459-959C-BF2E-939F-4F7E8E1F98F1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BBE0A5F4-EFB2-E85A-72C6-A6C252B4D363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A90F182-1394-0BB8-8ABA-4228B3A123E0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B67B9911-ABB8-9BE7-55F6-6CF8395C9DAD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EC15FC0B-F9F0-DDB8-9D78-E8F456CB96AB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3C2ABF17-1F93-780B-2375-81028C4DF7C2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BD4E90DB-F0D0-6553-14CA-A9ADA2F5CF2E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38D7301F-E3EE-BE64-0D53-EE0C4676A51C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B2CB4E5A-5AA0-2425-8891-54B8BD5C0D54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46A005B7-64EE-A888-E50C-A9DC4230BB76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80418FAF-BEB7-711E-0EB3-96771EEADD64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5A6A702F-DFEE-CFB7-7599-D1D8A8840630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1B88561A-9DA5-5FC1-C999-5259DB8F331B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11952AC4-358F-A314-17B8-D2AB08EF957A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582CA508-FC06-2D4E-1827-153463D492EE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BB1A9ACE-BE1D-0CA1-423E-19A1CF1E3D63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4AAE348C-CA8F-E3C7-FCD1-9F328C7ED7D4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F3E3CE12-4BA5-31CB-1A6A-1EDA0BDC0411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49728BED-0FC9-7DF9-9465-A460DDA8AF16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42D82BDE-091F-64B7-D716-5F9B640F097D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877AC176-010D-FC25-EBC3-44F2AE3A3E29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329D9320-51C6-03D0-01BF-BC555E2785F4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0F76AFB7-2A90-6542-6D7F-A1CDF80084E7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ECEAF546-A709-EFEE-032F-D6B40AFF37EC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7FD1854F-55A0-46F2-2295-EA7761E28CEE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76AF42CB-47FB-F5CA-239B-2DDF4596D039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FFE50645-591F-815A-27BC-2F513E512F9C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5D5027B9-3F51-4946-A7A1-EB8759072381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E5F1F828-083D-ED95-29B3-4C8306A4E703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1AD65B3D-60F8-1D6B-E447-2BF2324FD6BA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BF11713C-EF1F-9DB1-221D-2ED07F2C5444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982ADB45-FC80-2864-1CCE-660147C8C71C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B7D85509-0440-60D7-FC3D-EE247913C32E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FD6FBB33-A378-AB3D-99A0-5F613C87EF75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51DBB210-8A8A-2D79-3064-B3CF7AF939A1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6D5764B8-9534-81A4-5425-5C7A5950F64E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3F526B42-7813-5BDD-447E-D6AC2952FFAF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2EC16FB8-61C5-E1F0-861F-32DEEB4EDDBC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942019B9-3864-61A5-CA0A-3757C1CB6CE3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941D4D8F-19CD-EA1E-708B-1A3EE401B9E7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FE6F4336-9668-9247-33BD-B305E5F15EB6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1AA2FD40-F6D4-D595-59B1-7F6C867E571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EF7DD210-2900-B15F-5F42-C21E41B5A52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59E5BABD-D5D7-2FD8-2A13-18F5848E88D1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692647BC-62D5-4682-40FD-3692F4A2B92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5005880C-3C62-58B5-2E5B-3EDB1C0F238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15">
            <a:extLst>
              <a:ext uri="{FF2B5EF4-FFF2-40B4-BE49-F238E27FC236}">
                <a16:creationId xmlns:a16="http://schemas.microsoft.com/office/drawing/2014/main" id="{546614AB-F890-6709-4B08-BE89E0E9E399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1590984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/>
                </a:solidFill>
                <a:latin typeface="Montserrat ExtraBold"/>
                <a:cs typeface="Montserrat ExtraBold"/>
              </a:rPr>
              <a:t>GitHub</a:t>
            </a:r>
            <a:endParaRPr lang="pt-BR" sz="4950" kern="0" dirty="0">
              <a:solidFill>
                <a:schemeClr val="bg1"/>
              </a:solidFill>
              <a:latin typeface="Montserrat ExtraBold"/>
              <a:cs typeface="Montserrat ExtraBold"/>
            </a:endParaRP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0339EDB0-3EA2-8F6D-A75D-19659D75A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switch case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é uma estrutura de controle de fluxo usada para tomar decisões no código, de forma parecida com 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Ele é útil quando temos várias opções para uma mesma variável e queremos evitar escrever vários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seguidos. 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8" name="object 16">
            <a:extLst>
              <a:ext uri="{FF2B5EF4-FFF2-40B4-BE49-F238E27FC236}">
                <a16:creationId xmlns:a16="http://schemas.microsoft.com/office/drawing/2014/main" id="{CBE0D8EF-A7C9-0B0F-23E3-ADB86B03AE9B}"/>
              </a:ext>
            </a:extLst>
          </p:cNvPr>
          <p:cNvSpPr txBox="1"/>
          <p:nvPr/>
        </p:nvSpPr>
        <p:spPr>
          <a:xfrm>
            <a:off x="1611605" y="2538314"/>
            <a:ext cx="15069845" cy="168635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Com isso podemos utilizar as duas ferramentas pelo mesmo objetivo, que é de</a:t>
            </a:r>
          </a:p>
          <a:p>
            <a:r>
              <a:rPr lang="pt-BR" sz="3600" dirty="0">
                <a:solidFill>
                  <a:schemeClr val="bg1"/>
                </a:solidFill>
              </a:rPr>
              <a:t>realizar alterações de um determinado projeto e, compartilhar de uma forma ágil</a:t>
            </a:r>
          </a:p>
          <a:p>
            <a:r>
              <a:rPr lang="pt-BR" sz="3600" dirty="0">
                <a:solidFill>
                  <a:schemeClr val="bg1"/>
                </a:solidFill>
              </a:rPr>
              <a:t>e acessível ao time.</a:t>
            </a:r>
          </a:p>
        </p:txBody>
      </p:sp>
      <p:pic>
        <p:nvPicPr>
          <p:cNvPr id="80" name="Imagem 79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0B5CE6C2-0666-2545-9508-57FFCDE356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161" y="4486094"/>
            <a:ext cx="11433842" cy="623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179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3BE2B-EDEB-6552-0BAA-786555535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18639E-7E88-D0D6-3F64-985426CEA8B1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4EEFD48-4D5A-58E1-8134-C9B760F97EF9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01CE4AE-495F-4CD7-7C21-5AD548E67BE7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39FF4ED-EB41-412B-1845-45256D053DAB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2135A18-3F04-5A61-ACB0-74C570F020CA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13DA7AF-9ECF-1E86-84C6-7028ADCA680E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5164E7F-374D-53A1-1A93-16B0EDBEB6ED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1D9CF66-DE91-C786-BDB0-7048A4336D4F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AD9D7E2-AB6F-5EDF-98C8-491099558D8F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48A8AE3-F446-0B5A-B0F8-F5126E96CAE2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60D98F9-D514-AB15-CEA3-E17D25932093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8E9A7397-F4A5-60A3-F33D-FD9C67D40EEF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4AB8353-6607-C02F-8082-765E1573E7D7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5C05ABB-C767-E4F8-8703-2C8EA40C250E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2E2A9E74-A495-259B-9634-95C1046C8185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0EABCB3-8572-DD8D-0F4A-83852F309F4D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B95E1B16-2C18-B1E4-8CE2-648CC5FED1A2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6E6C47E3-0971-AA20-5822-E31B29FA6F4A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B336BC36-B71D-3017-4DF6-5C58DCA5FACF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4F078D21-E053-B59B-CF6C-BC6FFC51F4FC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EF30DCA-F90E-36C8-7189-B97AC9DC1A5B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A8A509CA-AE85-20E8-14C9-BFFD0A937A1C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02FAF38C-D0A0-425D-6402-A9743AF894BB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5F3E0E0B-58F7-DEFB-13B6-9047461E8B45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6091F08-37B5-F24F-7AB5-650CECCD0BC6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11A7489E-68A9-61FD-76A4-6743655CFF17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4EBCA94F-E28A-BB3A-29B0-324A828F079D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0583003C-551B-21BC-3E7B-39C66865A341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C3A3E2BF-8B54-9FDF-75FA-F3F29A0D100B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3E2621E3-FFFC-685E-013F-23586FB222B3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90BABE32-AE03-51D3-4B92-5FCCF4B00D91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57733B17-6FE1-CF2C-ADC7-FDEDEB2C68E3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D144BC47-DA0A-3B4A-7AE1-7952DC1DC272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49D15D77-F323-2139-3DA4-57FC284D972C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0AC83A09-45C2-E197-F239-FDE8BBB16EF7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464408FD-2BFA-4248-070B-76ED432AE424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CBD3D277-8631-5CA7-3897-52F8AB166250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6F2E4190-75F4-AF7D-12BF-AAB001BA2D9D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B19B3D6C-7B90-7BD4-B53D-8BE918E515C5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49DB2F72-113A-3E26-F70E-EE992B996883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5EAC5802-E532-9144-0A97-FFA010712330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3D85AC7B-7EBC-FD95-D739-2BFCEAE14666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37D1E7EF-32EF-0722-05C8-2E304549FEF1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1B993E2A-5CDC-97F0-D5B2-C701CC49E071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6FB30317-8EEC-AF40-431C-D673017B6897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4690B3B7-82D8-2241-6022-8EDA17E35B09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E0CEC64E-3E7E-CC70-4752-29F61E990002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54FDDA41-CA59-8BF5-5189-2957D93AFAC5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B8A4C73C-EA44-3450-7250-C8FED432CB7E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9A1BC299-EB51-01B2-084B-72AB3C06B8EA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E516CC42-558A-7F41-151D-5A3F344CA57E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3798FFA3-2C4D-DDE3-C630-4C6D7A22B3B7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2AE1B9EC-2937-A97C-363B-DD1A3BDFBCE8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1B078107-B1AE-B283-B1A3-60CD6D7FE26A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82736146-64EC-6729-7B18-A1D7E496F121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B245952F-071E-AFC8-AC61-97E31FC1DC9D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1D2AAF02-964A-2B38-BC5B-E07DE9C0FB8C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7306898C-9636-D98F-4E77-40BB5E79EB75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F9EE2DCE-D6E9-8F93-A1DF-186BEFE9CCC7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3168008D-3684-2123-D969-9090FE020642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F5C4DB1C-B95A-C427-1F7D-EBE76A956A7D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B9A873C7-2391-D9CA-84BF-980047F7A4C3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1530A707-533A-397B-06D9-404BB4D66D0D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8C4DD5F8-D9E8-CBFF-140A-808714DA90C1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304C8DD1-88D2-D71E-2D94-D4CB21FD829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F44F4E1F-B1B2-1E9E-9235-BE3A64AFC8E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378FAB73-2D8B-C4A1-DD59-3C9EC991DC0F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1BFF7345-5D47-F249-8C41-3AF812CE2AC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940D5820-7FDA-C4AA-E68C-63813715B45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15">
            <a:extLst>
              <a:ext uri="{FF2B5EF4-FFF2-40B4-BE49-F238E27FC236}">
                <a16:creationId xmlns:a16="http://schemas.microsoft.com/office/drawing/2014/main" id="{3447AC94-A9F1-506A-5BD6-5E5F836013F0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1590984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/>
                </a:solidFill>
                <a:latin typeface="Montserrat ExtraBold"/>
                <a:cs typeface="Montserrat ExtraBold"/>
              </a:rPr>
              <a:t>Comandos para o </a:t>
            </a:r>
            <a:r>
              <a:rPr lang="pt-BR" sz="4950" b="1" kern="0" spc="-15" dirty="0" err="1">
                <a:solidFill>
                  <a:schemeClr val="bg1"/>
                </a:solidFill>
                <a:latin typeface="Montserrat ExtraBold"/>
                <a:cs typeface="Montserrat ExtraBold"/>
              </a:rPr>
              <a:t>Git</a:t>
            </a:r>
            <a:endParaRPr lang="pt-BR" sz="4950" kern="0" dirty="0">
              <a:solidFill>
                <a:schemeClr val="bg1"/>
              </a:solidFill>
              <a:latin typeface="Montserrat ExtraBold"/>
              <a:cs typeface="Montserrat ExtraBold"/>
            </a:endParaRP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56ABB08C-232D-E079-89FE-29B6F1FAD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switch case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é uma estrutura de controle de fluxo usada para tomar decisões no código, de forma parecida com 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Ele é útil quando temos várias opções para uma mesma variável e queremos evitar escrever vários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seguidos. 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8" name="object 16">
            <a:extLst>
              <a:ext uri="{FF2B5EF4-FFF2-40B4-BE49-F238E27FC236}">
                <a16:creationId xmlns:a16="http://schemas.microsoft.com/office/drawing/2014/main" id="{40680141-768A-DE02-E77C-9F05A9197CFE}"/>
              </a:ext>
            </a:extLst>
          </p:cNvPr>
          <p:cNvSpPr txBox="1"/>
          <p:nvPr/>
        </p:nvSpPr>
        <p:spPr>
          <a:xfrm>
            <a:off x="1570283" y="1991935"/>
            <a:ext cx="15069845" cy="77803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init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</a:p>
          <a:p>
            <a:r>
              <a:rPr lang="pt-BR" sz="2800" dirty="0">
                <a:solidFill>
                  <a:schemeClr val="bg1"/>
                </a:solidFill>
              </a:rPr>
              <a:t>Cria um novo repositório </a:t>
            </a:r>
            <a:r>
              <a:rPr lang="pt-BR" sz="2800" dirty="0" err="1">
                <a:solidFill>
                  <a:schemeClr val="bg1"/>
                </a:solidFill>
              </a:rPr>
              <a:t>Git</a:t>
            </a:r>
            <a:r>
              <a:rPr lang="pt-BR" sz="2800" dirty="0">
                <a:solidFill>
                  <a:schemeClr val="bg1"/>
                </a:solidFill>
              </a:rPr>
              <a:t> em um diretório (pasta) atual ou em um especificado.</a:t>
            </a:r>
          </a:p>
          <a:p>
            <a:endParaRPr lang="pt-BR" sz="2800" b="1" dirty="0">
              <a:solidFill>
                <a:schemeClr val="bg1"/>
              </a:solidFill>
            </a:endParaRPr>
          </a:p>
          <a:p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add</a:t>
            </a:r>
            <a:r>
              <a:rPr lang="pt-BR" sz="2800" b="1" dirty="0">
                <a:solidFill>
                  <a:schemeClr val="bg1"/>
                </a:solidFill>
              </a:rPr>
              <a:t> .</a:t>
            </a:r>
          </a:p>
          <a:p>
            <a:r>
              <a:rPr lang="pt-BR" sz="2800" dirty="0">
                <a:solidFill>
                  <a:schemeClr val="bg1"/>
                </a:solidFill>
              </a:rPr>
              <a:t>Adiciona todas as alterações do </a:t>
            </a:r>
            <a:r>
              <a:rPr lang="pt-BR" sz="2800" dirty="0" err="1">
                <a:solidFill>
                  <a:schemeClr val="bg1"/>
                </a:solidFill>
              </a:rPr>
              <a:t>working</a:t>
            </a:r>
            <a:r>
              <a:rPr lang="pt-BR" sz="2800" dirty="0">
                <a:solidFill>
                  <a:schemeClr val="bg1"/>
                </a:solidFill>
              </a:rPr>
              <a:t> </a:t>
            </a:r>
            <a:r>
              <a:rPr lang="pt-BR" sz="2800" dirty="0" err="1">
                <a:solidFill>
                  <a:schemeClr val="bg1"/>
                </a:solidFill>
              </a:rPr>
              <a:t>directory</a:t>
            </a:r>
            <a:r>
              <a:rPr lang="pt-BR" sz="2800" dirty="0">
                <a:solidFill>
                  <a:schemeClr val="bg1"/>
                </a:solidFill>
              </a:rPr>
              <a:t> (diretório de trabalho) ao</a:t>
            </a:r>
          </a:p>
          <a:p>
            <a:r>
              <a:rPr lang="pt-BR" sz="2800" dirty="0" err="1">
                <a:solidFill>
                  <a:schemeClr val="bg1"/>
                </a:solidFill>
              </a:rPr>
              <a:t>staging</a:t>
            </a:r>
            <a:r>
              <a:rPr lang="pt-BR" sz="2800" dirty="0">
                <a:solidFill>
                  <a:schemeClr val="bg1"/>
                </a:solidFill>
              </a:rPr>
              <a:t> área(área de preparação) no </a:t>
            </a:r>
            <a:r>
              <a:rPr lang="pt-BR" sz="2800" dirty="0" err="1">
                <a:solidFill>
                  <a:schemeClr val="bg1"/>
                </a:solidFill>
              </a:rPr>
              <a:t>Git</a:t>
            </a:r>
            <a:r>
              <a:rPr lang="pt-BR" sz="2800" dirty="0">
                <a:solidFill>
                  <a:schemeClr val="bg1"/>
                </a:solidFill>
              </a:rPr>
              <a:t>.</a:t>
            </a:r>
          </a:p>
          <a:p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commit</a:t>
            </a:r>
            <a:r>
              <a:rPr lang="pt-BR" sz="2800" b="1" dirty="0">
                <a:solidFill>
                  <a:schemeClr val="bg1"/>
                </a:solidFill>
              </a:rPr>
              <a:t> -m “mensagem” </a:t>
            </a:r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Cria uma mensagem de confirmação especificada para alteração adicionada.</a:t>
            </a:r>
          </a:p>
          <a:p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b="1" dirty="0" err="1">
                <a:solidFill>
                  <a:schemeClr val="bg1"/>
                </a:solidFill>
              </a:rPr>
              <a:t>gitlog</a:t>
            </a:r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Exibe o histórico de </a:t>
            </a:r>
            <a:r>
              <a:rPr lang="pt-BR" sz="2800" dirty="0" err="1">
                <a:solidFill>
                  <a:schemeClr val="bg1"/>
                </a:solidFill>
              </a:rPr>
              <a:t>commits</a:t>
            </a:r>
            <a:r>
              <a:rPr lang="pt-BR" sz="2800" dirty="0">
                <a:solidFill>
                  <a:schemeClr val="bg1"/>
                </a:solidFill>
              </a:rPr>
              <a:t>, do mais recente , até o mais antigo</a:t>
            </a:r>
          </a:p>
          <a:p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status </a:t>
            </a:r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Exibe informações como arquivos modificados, arquivos que foram removidos, entre outros...</a:t>
            </a:r>
          </a:p>
          <a:p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reset --hard HEAD~1 </a:t>
            </a:r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Desfaz o último </a:t>
            </a:r>
            <a:r>
              <a:rPr lang="pt-BR" sz="2800" dirty="0" err="1">
                <a:solidFill>
                  <a:schemeClr val="bg1"/>
                </a:solidFill>
              </a:rPr>
              <a:t>commit</a:t>
            </a:r>
            <a:r>
              <a:rPr lang="pt-BR" sz="2800" dirty="0">
                <a:solidFill>
                  <a:schemeClr val="bg1"/>
                </a:solidFill>
              </a:rPr>
              <a:t> e atualiza o estado do repositório para refletir o </a:t>
            </a:r>
            <a:r>
              <a:rPr lang="pt-BR" sz="2800" dirty="0" err="1">
                <a:solidFill>
                  <a:schemeClr val="bg1"/>
                </a:solidFill>
              </a:rPr>
              <a:t>commit</a:t>
            </a:r>
            <a:r>
              <a:rPr lang="pt-BR" sz="2800" dirty="0">
                <a:solidFill>
                  <a:schemeClr val="bg1"/>
                </a:solidFill>
              </a:rPr>
              <a:t> anterior.</a:t>
            </a:r>
          </a:p>
        </p:txBody>
      </p:sp>
    </p:spTree>
    <p:extLst>
      <p:ext uri="{BB962C8B-B14F-4D97-AF65-F5344CB8AC3E}">
        <p14:creationId xmlns:p14="http://schemas.microsoft.com/office/powerpoint/2010/main" val="3843362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ABA7B-5A10-85C7-F072-7420D8CD0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077A9A0-0F2B-D268-AA23-43E52DA7E427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BD00650-240F-C317-A0FC-62A699C31E32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86CB619-FA17-85F3-6B08-A81D3B766608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9090E06-58A8-882F-82DF-BEC7F6E09598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0059D42-9138-4728-BCF5-954D0DDE8231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93B7855-78A1-BFF4-5215-EF8A8EEBF498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DA06B2E-0E0F-3C8B-043E-F3D40E1423CA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8EB1D6A-9761-3AFB-2A9D-1645BCD550C3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BFD1B1D-1AEA-1D62-9076-E2DE01A1975D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FC00E44-CDFC-8436-7725-654A3D55AC5A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A2E7DA9-8F12-CD0A-7200-DDF939BD7969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83DBC1E8-15EA-3109-B2FE-165F860EF086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1D3093ED-CFB3-F905-362B-0D8214DD6789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F421522-DE91-FB03-AC0C-90176537B69D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70BFB60-A661-8BAB-8493-B419BC644FC2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4BA02B6-E8D8-D825-4D6E-ED746226D561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4294CF1-2582-FC74-00A9-5B6CFD0C73C1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E8744AD-4D7B-BAFD-758B-A379E8A694DE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2636B511-EC6C-FC62-4B5E-0C7DB49841BD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361F8E0A-2183-BAC6-5A42-E431D5185BA7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17B6D97A-D4A2-4BFA-5774-82C8F25F770C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6B637CF0-EEFE-0938-1554-0F1C6286AD13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99CCC0BB-7832-B983-B404-A926F8DC387C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F45A3EDD-0A79-29DB-1DB6-926F52E3FA77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A6BDF153-29E6-7A82-B965-07DABC7EB3C6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79A2AC57-1BDC-2980-DD25-3240866180BF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23003D0-D8E9-5BA7-8749-C8BC69819A9D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6143A684-E4D4-F1CD-181B-520621E95E78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A18DD4B5-C919-0FA3-3F29-05865C47669A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328105D6-CA80-3983-EE36-7D91BE1A138C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903804D2-6684-D3A6-1A7A-482A94100DC0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43C848B5-3949-3C8C-8090-227353AEBB23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3D74F4C4-E77B-9212-6221-B19708D8D466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835A4A40-6C54-D5CC-65EF-23CB0F79AEA4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AC426350-550D-AA33-9731-0F81B9FBB7F0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8F2C22C9-F36E-DBBC-7854-4C3E78DC7130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5E791407-BF7C-3DB4-DA72-BDD93BE6C000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C74B9A68-1286-FBB5-51BD-CD765A66A4BE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08F091B7-28DB-D2C9-4267-CF2D70A070C0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82B42096-7480-CBC1-693F-B0015EF5C42B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57FC7E5B-EB4F-42B1-B1B0-62EDF56042C3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36742752-A8B3-BF05-D203-0A8D706FCB04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F3733242-6C10-2AD9-AB17-66160506D5EF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6C90A55F-F264-B125-87F0-7302A65DBB2D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3FCC4CED-3F1D-A2AB-FC94-A5FF6077B6C1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32BDAD17-FB70-A22F-A6EB-BD1250311C22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36320957-7189-CE81-ACF1-60038034E26A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96101BE7-185D-C110-03CC-A713127F4CB4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11B40C56-668D-F0F3-B51F-244357D3EBE3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C34800AD-845F-974D-3664-445592D3D24E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9B431AC6-4E46-FF76-21ED-EB006EF8E16B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B960CE12-C8A1-6894-AB2C-1957E507904F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A456ADF8-4F80-DB9B-8CF4-7278D5369A77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636689BB-520A-C5BA-01B9-2888C571AF0D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24FA7C95-FC4C-92AF-DB3E-4C9050AF1ED5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57C5D46A-BD47-145D-B812-934DBC4BABC8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740EC14E-709A-A58C-2FA3-AB4DCE201C4F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508FFCD9-22D5-582C-0323-2A4F469E5DF5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C4594BFD-155C-EE39-343A-B4B7A5AF0ECD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238FF242-5924-AC60-78EA-90DB47107BC3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15F5C501-8EB1-7F1B-6575-6163FBBDE027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20666F23-D58F-CF16-593C-E80C489AB311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1DD6E7C7-4D73-957B-11F6-290758D62DE6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26597F0C-CADB-34B1-7E65-E8B5B1B7B09D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1AEB1820-C261-71DC-9098-7B9F19977A4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E7080B2A-1F1C-3782-993A-011DB32E9F1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CFC536D1-F917-F732-0071-17E9EEE590F0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9A5EC441-4A54-CBCE-1576-7B16A585D54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673D5DCF-0EE0-AD1A-8A88-3B92B4A4AA2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15">
            <a:extLst>
              <a:ext uri="{FF2B5EF4-FFF2-40B4-BE49-F238E27FC236}">
                <a16:creationId xmlns:a16="http://schemas.microsoft.com/office/drawing/2014/main" id="{037BEBC2-51EF-48A3-C7C5-896C33ED2ED0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1590984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/>
                </a:solidFill>
                <a:latin typeface="Montserrat ExtraBold"/>
                <a:cs typeface="Montserrat ExtraBold"/>
              </a:rPr>
              <a:t>Comandos para o </a:t>
            </a:r>
            <a:r>
              <a:rPr lang="pt-BR" sz="4950" b="1" kern="0" spc="-15" dirty="0" err="1">
                <a:solidFill>
                  <a:schemeClr val="bg1"/>
                </a:solidFill>
                <a:latin typeface="Montserrat ExtraBold"/>
                <a:cs typeface="Montserrat ExtraBold"/>
              </a:rPr>
              <a:t>Git</a:t>
            </a:r>
            <a:endParaRPr lang="pt-BR" sz="4950" kern="0" dirty="0">
              <a:solidFill>
                <a:schemeClr val="bg1"/>
              </a:solidFill>
              <a:latin typeface="Montserrat ExtraBold"/>
              <a:cs typeface="Montserrat ExtraBold"/>
            </a:endParaRP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B8DA59E5-C184-695A-C198-BFC4998A7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switch case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é uma estrutura de controle de fluxo usada para tomar decisões no código, de forma parecida com 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Ele é útil quando temos várias opções para uma mesma variável e queremos evitar escrever vários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seguidos. 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8" name="object 16">
            <a:extLst>
              <a:ext uri="{FF2B5EF4-FFF2-40B4-BE49-F238E27FC236}">
                <a16:creationId xmlns:a16="http://schemas.microsoft.com/office/drawing/2014/main" id="{BD7623E9-159D-ECF0-8310-EB8775F5F14C}"/>
              </a:ext>
            </a:extLst>
          </p:cNvPr>
          <p:cNvSpPr txBox="1"/>
          <p:nvPr/>
        </p:nvSpPr>
        <p:spPr>
          <a:xfrm>
            <a:off x="1570283" y="1991935"/>
            <a:ext cx="15069845" cy="77803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remote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add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origin</a:t>
            </a:r>
            <a:r>
              <a:rPr lang="pt-BR" sz="2800" b="1" dirty="0">
                <a:solidFill>
                  <a:schemeClr val="bg1"/>
                </a:solidFill>
              </a:rPr>
              <a:t> https://github.com... </a:t>
            </a:r>
            <a:br>
              <a:rPr lang="pt-BR" sz="2800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Conecta o </a:t>
            </a:r>
            <a:r>
              <a:rPr lang="pt-BR" sz="2800" dirty="0" err="1">
                <a:solidFill>
                  <a:schemeClr val="bg1"/>
                </a:solidFill>
              </a:rPr>
              <a:t>repositorio</a:t>
            </a:r>
            <a:r>
              <a:rPr lang="pt-BR" sz="2800" dirty="0">
                <a:solidFill>
                  <a:schemeClr val="bg1"/>
                </a:solidFill>
              </a:rPr>
              <a:t> </a:t>
            </a:r>
            <a:r>
              <a:rPr lang="pt-BR" sz="2800" dirty="0" err="1">
                <a:solidFill>
                  <a:schemeClr val="bg1"/>
                </a:solidFill>
              </a:rPr>
              <a:t>Git</a:t>
            </a:r>
            <a:r>
              <a:rPr lang="pt-BR" sz="2800" dirty="0">
                <a:solidFill>
                  <a:schemeClr val="bg1"/>
                </a:solidFill>
              </a:rPr>
              <a:t> com o repositório remoto indicando por uma URL.</a:t>
            </a:r>
          </a:p>
          <a:p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push</a:t>
            </a:r>
            <a:r>
              <a:rPr lang="pt-BR" sz="2800" b="1" dirty="0">
                <a:solidFill>
                  <a:schemeClr val="bg1"/>
                </a:solidFill>
              </a:rPr>
              <a:t> u </a:t>
            </a:r>
            <a:r>
              <a:rPr lang="pt-BR" sz="2800" b="1" dirty="0" err="1">
                <a:solidFill>
                  <a:schemeClr val="bg1"/>
                </a:solidFill>
              </a:rPr>
              <a:t>origin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main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br>
              <a:rPr lang="pt-BR" sz="2800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Envia as alterações do repositório local para o repositório remoto,</a:t>
            </a:r>
          </a:p>
          <a:p>
            <a:r>
              <a:rPr lang="pt-BR" sz="2800" dirty="0">
                <a:solidFill>
                  <a:schemeClr val="bg1"/>
                </a:solidFill>
              </a:rPr>
              <a:t>forçando uma criação de uma </a:t>
            </a:r>
            <a:r>
              <a:rPr lang="pt-BR" sz="2800" dirty="0" err="1">
                <a:solidFill>
                  <a:schemeClr val="bg1"/>
                </a:solidFill>
              </a:rPr>
              <a:t>branch</a:t>
            </a:r>
            <a:r>
              <a:rPr lang="pt-BR" sz="2800" dirty="0">
                <a:solidFill>
                  <a:schemeClr val="bg1"/>
                </a:solidFill>
              </a:rPr>
              <a:t> </a:t>
            </a:r>
            <a:r>
              <a:rPr lang="pt-BR" sz="2800" dirty="0" err="1">
                <a:solidFill>
                  <a:schemeClr val="bg1"/>
                </a:solidFill>
              </a:rPr>
              <a:t>main</a:t>
            </a:r>
            <a:r>
              <a:rPr lang="pt-BR" sz="2800" dirty="0">
                <a:solidFill>
                  <a:schemeClr val="bg1"/>
                </a:solidFill>
              </a:rPr>
              <a:t> , caso tenha a </a:t>
            </a:r>
            <a:r>
              <a:rPr lang="pt-BR" sz="2800" dirty="0" err="1">
                <a:solidFill>
                  <a:schemeClr val="bg1"/>
                </a:solidFill>
              </a:rPr>
              <a:t>branch</a:t>
            </a:r>
            <a:r>
              <a:rPr lang="pt-BR" sz="2800" dirty="0">
                <a:solidFill>
                  <a:schemeClr val="bg1"/>
                </a:solidFill>
              </a:rPr>
              <a:t> , não cria.</a:t>
            </a:r>
          </a:p>
          <a:p>
            <a:br>
              <a:rPr lang="pt-BR" sz="2800" dirty="0">
                <a:solidFill>
                  <a:schemeClr val="bg1"/>
                </a:solidFill>
              </a:rPr>
            </a:br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clone https://github.com... </a:t>
            </a:r>
            <a:br>
              <a:rPr lang="pt-BR" sz="2800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Cria uma cópia de um repositório </a:t>
            </a:r>
            <a:r>
              <a:rPr lang="pt-BR" sz="2800" dirty="0" err="1">
                <a:solidFill>
                  <a:schemeClr val="bg1"/>
                </a:solidFill>
              </a:rPr>
              <a:t>Git</a:t>
            </a:r>
            <a:r>
              <a:rPr lang="pt-BR" sz="2800" dirty="0">
                <a:solidFill>
                  <a:schemeClr val="bg1"/>
                </a:solidFill>
              </a:rPr>
              <a:t> remoto em seu computador</a:t>
            </a:r>
            <a:br>
              <a:rPr lang="pt-BR" sz="2800" dirty="0">
                <a:solidFill>
                  <a:schemeClr val="bg1"/>
                </a:solidFill>
              </a:rPr>
            </a:br>
            <a:endParaRPr lang="pt-BR" sz="2800" dirty="0">
              <a:solidFill>
                <a:schemeClr val="bg1"/>
              </a:solidFill>
            </a:endParaRPr>
          </a:p>
          <a:p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pull</a:t>
            </a:r>
            <a:br>
              <a:rPr lang="pt-BR" sz="2800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 Atualiza o repositório local conforme as alterações feitas no repositório remoto</a:t>
            </a:r>
          </a:p>
          <a:p>
            <a:br>
              <a:rPr lang="pt-BR" sz="2800" dirty="0">
                <a:solidFill>
                  <a:schemeClr val="bg1"/>
                </a:solidFill>
              </a:rPr>
            </a:br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push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origin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main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br>
              <a:rPr lang="pt-BR" sz="2800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Envia os </a:t>
            </a:r>
            <a:r>
              <a:rPr lang="pt-BR" sz="2800" dirty="0" err="1">
                <a:solidFill>
                  <a:schemeClr val="bg1"/>
                </a:solidFill>
              </a:rPr>
              <a:t>commits</a:t>
            </a:r>
            <a:r>
              <a:rPr lang="pt-BR" sz="2800" dirty="0">
                <a:solidFill>
                  <a:schemeClr val="bg1"/>
                </a:solidFill>
              </a:rPr>
              <a:t> local, para o repositório remoto , da </a:t>
            </a:r>
            <a:r>
              <a:rPr lang="pt-BR" sz="2800" dirty="0" err="1">
                <a:solidFill>
                  <a:schemeClr val="bg1"/>
                </a:solidFill>
              </a:rPr>
              <a:t>branch</a:t>
            </a:r>
            <a:endParaRPr lang="pt-BR" sz="2800" dirty="0">
              <a:solidFill>
                <a:schemeClr val="bg1"/>
              </a:solidFill>
            </a:endParaRPr>
          </a:p>
          <a:p>
            <a:br>
              <a:rPr lang="pt-BR" sz="2800" dirty="0">
                <a:solidFill>
                  <a:schemeClr val="bg1"/>
                </a:solidFill>
              </a:rPr>
            </a:br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show 010101</a:t>
            </a:r>
            <a:br>
              <a:rPr lang="pt-BR" sz="2800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Mostra mais detalhes do </a:t>
            </a:r>
            <a:r>
              <a:rPr lang="pt-BR" sz="2800" dirty="0" err="1">
                <a:solidFill>
                  <a:schemeClr val="bg1"/>
                </a:solidFill>
              </a:rPr>
              <a:t>commit</a:t>
            </a:r>
            <a:r>
              <a:rPr lang="pt-BR" sz="28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937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1298A5C-C6EA-85EB-E7C2-FB41CB2F2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30D8C3-78DE-4C1F-CD30-164173AB7F6F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048A4A2-25A5-217A-A987-39793EBBC9B0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8D05E24-26E6-434D-BF3A-ADEBBC89E53B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ED6C3C6-76B3-D714-3405-8839EE8AB954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6E4A5E3-F824-AF6C-3DB7-4863B0F06584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3592556-58AC-2A78-0DE4-1077831AE76E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72A90A7-2B13-5ED3-48AB-26D1FBC19E24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F8E0FFB-B00E-EF50-E0AD-9545E43DBFDE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8D57D67-44E0-CC9B-DDD8-24FE9BB14CE7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1B2ED37-8ECE-34A8-E04C-F8844F105DCD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BCA1489-7921-44AD-BD0A-1AF879A94037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8E47642F-A3B8-F3EE-7FD6-380856510E86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A20132B0-8D21-5570-BB47-C82B6AF1B240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D1BA424-290A-4429-5923-4FE5FEDC5133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9B4F462-EF73-A570-579E-D298E7D43CAC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BC958923-20E4-B655-3F9E-71A9A7FEA375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89F53DE9-2A47-E5D5-3290-2690F4D0AC21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FFF47075-F0B8-9D83-0A64-D73DCC5EF4F4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E492CC77-DD73-C308-8351-C7B3AA3D7E5E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E2FDD1C5-01C8-4042-3362-005F0BB77BAA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3D630C04-374B-9070-83B6-A3F4AC8528D5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03C7BA9F-F555-3ADB-EDBC-BDE81FFF9E17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D07A908-5CD2-7A1D-0C3F-D54D204E8A67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9A46F934-5D6D-B616-DCCC-33CC0126F675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103A500A-2919-B20B-5ED7-5F29D5F7E718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E27B291-D48D-7317-B3D2-B08544B18BD8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1B71CD16-BD96-25B2-4BFB-5A7B69E23233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23DAD69B-8495-3187-3BB2-1DA79E65022C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68972562-29C9-31AD-9AB4-CEFC8284AB9C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7E7EE9B5-76EC-0F12-9375-0250111B8616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78D75D47-2895-67F0-9CAB-9CB461B4BD09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A2A3A3DC-2AA0-D3AB-7A33-98D41A367EB9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664D76B8-4795-C7F9-BB0D-7386C41F1666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8BD9C78D-F4FF-512C-0D47-6763DB1C6A4C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1600B402-24C5-1675-5374-C44CD5F2294D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60A2EF82-D6F8-B8DE-9043-2441EEE70FE2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B175A925-0767-E747-18A6-188AA4C78805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8DFCAFA7-5913-7B14-503F-26A2E99719D0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5A12D0CE-DC9B-59D2-9320-88D34D8E0C13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A5A4E66A-844A-C080-7ED5-93793E9D056C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7449319D-D50F-E26A-695E-631B1286740C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D2F432FF-F1A5-FC87-C4A3-3DB4586EC3CC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8F2C9CDD-D59D-9C92-F835-F92019264FDA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A54F657F-F9A3-8FC8-CD22-0D805CB096F9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44961452-BF4C-DBD3-D9A8-2D6BFFD4725F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37178DD9-DE9B-2492-276D-95F248658A2E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F2DCEC66-3DB5-C3E5-66A4-B4451F83FAA9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D7427E4D-A63F-6FC2-E5FC-E1C7AF4FD305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C4FF3BD2-BF2A-EF61-1DE6-4F5459B1EAD4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0ED41DBB-AC4D-C9B4-949F-E7A32AF4BAFC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0D57D51D-2E31-3CF5-B87B-8F3CFA328466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E4AEA5BC-AE7F-7E1B-B392-4AA07DAF77C9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FA975F67-AF8F-E884-ED57-22C5D9E90047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65F3AC8A-4736-E072-B1F9-18CDC61EDEBA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7963686A-077E-A187-843F-61D717827CAC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1C9DB930-D466-C67C-4526-FF2BF7E5766C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703E855C-5894-E44C-12A0-0F2AAD5DD22D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FC9AEB12-33C1-E4AE-C312-B21000B6E744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BF7B262B-47EE-51F7-50EF-CC18046D3782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A54FF89B-22CB-328E-2EBB-9BBCC4875702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8CC45DE8-2826-ACA7-0F40-D776930B89C2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293A8427-A9B6-9382-17E0-7FC47AD43F42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F7CAC609-B56C-DF43-8253-76F1E0EDD0A7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1F4BF0B4-AA72-5813-A4FD-FC28FBCC97E5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0398AA9C-F344-ED98-5941-99CED990AFB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CA157814-7C53-344A-7F13-3BC3862CA97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C7AD452B-E4E2-4FC3-6703-80277B1C2E41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19CFEFF-18EF-CE24-D7DB-F54B1BF34A5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1D25773D-0400-8EE4-FD58-B929C6CF3CF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15">
            <a:extLst>
              <a:ext uri="{FF2B5EF4-FFF2-40B4-BE49-F238E27FC236}">
                <a16:creationId xmlns:a16="http://schemas.microsoft.com/office/drawing/2014/main" id="{5DA6CC55-F95E-F902-6749-5E91EE3212A7}"/>
              </a:ext>
            </a:extLst>
          </p:cNvPr>
          <p:cNvSpPr txBox="1">
            <a:spLocks/>
          </p:cNvSpPr>
          <p:nvPr/>
        </p:nvSpPr>
        <p:spPr>
          <a:xfrm>
            <a:off x="1509064" y="984549"/>
            <a:ext cx="12200585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/>
                </a:solidFill>
                <a:latin typeface="Montserrat ExtraBold"/>
                <a:cs typeface="Montserrat ExtraBold"/>
              </a:rPr>
              <a:t>GIT: Sequência de comandos (local)</a:t>
            </a:r>
            <a:endParaRPr lang="pt-BR" sz="4950" kern="0" dirty="0">
              <a:solidFill>
                <a:schemeClr val="bg1"/>
              </a:solidFill>
              <a:latin typeface="Montserrat ExtraBold"/>
              <a:cs typeface="Montserrat ExtraBold"/>
            </a:endParaRP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DFBE045D-C90B-E458-6BFE-BFFB3EB83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switch case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é uma estrutura de controle de fluxo usada para tomar decisões no código, de forma parecida com 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Ele é útil quando temos várias opções para uma mesma variável e queremos evitar escrever vários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seguidos. 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8" name="object 16">
            <a:extLst>
              <a:ext uri="{FF2B5EF4-FFF2-40B4-BE49-F238E27FC236}">
                <a16:creationId xmlns:a16="http://schemas.microsoft.com/office/drawing/2014/main" id="{C22D3317-3A1E-4A0D-A2DB-F7D54E353B1F}"/>
              </a:ext>
            </a:extLst>
          </p:cNvPr>
          <p:cNvSpPr txBox="1"/>
          <p:nvPr/>
        </p:nvSpPr>
        <p:spPr>
          <a:xfrm>
            <a:off x="1570283" y="1991935"/>
            <a:ext cx="15069845" cy="8211222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init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</a:p>
          <a:p>
            <a:r>
              <a:rPr lang="pt-BR" sz="2800" dirty="0">
                <a:solidFill>
                  <a:schemeClr val="bg1"/>
                </a:solidFill>
              </a:rPr>
              <a:t>Cria um novo repositório </a:t>
            </a:r>
            <a:r>
              <a:rPr lang="pt-BR" sz="2800" dirty="0" err="1">
                <a:solidFill>
                  <a:schemeClr val="bg1"/>
                </a:solidFill>
              </a:rPr>
              <a:t>Git</a:t>
            </a:r>
            <a:r>
              <a:rPr lang="pt-BR" sz="2800" dirty="0">
                <a:solidFill>
                  <a:schemeClr val="bg1"/>
                </a:solidFill>
              </a:rPr>
              <a:t> em um diretório (pasta) atual ou em um especificado.</a:t>
            </a:r>
          </a:p>
          <a:p>
            <a:endParaRPr lang="pt-BR" sz="2800" b="1" dirty="0">
              <a:solidFill>
                <a:schemeClr val="bg1"/>
              </a:solidFill>
            </a:endParaRPr>
          </a:p>
          <a:p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add</a:t>
            </a:r>
            <a:r>
              <a:rPr lang="pt-BR" sz="2800" b="1" dirty="0">
                <a:solidFill>
                  <a:schemeClr val="bg1"/>
                </a:solidFill>
              </a:rPr>
              <a:t> .</a:t>
            </a:r>
          </a:p>
          <a:p>
            <a:r>
              <a:rPr lang="pt-BR" sz="2800" dirty="0">
                <a:solidFill>
                  <a:schemeClr val="bg1"/>
                </a:solidFill>
              </a:rPr>
              <a:t>Adiciona todas as alterações do </a:t>
            </a:r>
            <a:r>
              <a:rPr lang="pt-BR" sz="2800" dirty="0" err="1">
                <a:solidFill>
                  <a:schemeClr val="bg1"/>
                </a:solidFill>
              </a:rPr>
              <a:t>working</a:t>
            </a:r>
            <a:r>
              <a:rPr lang="pt-BR" sz="2800" dirty="0">
                <a:solidFill>
                  <a:schemeClr val="bg1"/>
                </a:solidFill>
              </a:rPr>
              <a:t> </a:t>
            </a:r>
            <a:r>
              <a:rPr lang="pt-BR" sz="2800" dirty="0" err="1">
                <a:solidFill>
                  <a:schemeClr val="bg1"/>
                </a:solidFill>
              </a:rPr>
              <a:t>directory</a:t>
            </a:r>
            <a:r>
              <a:rPr lang="pt-BR" sz="2800" dirty="0">
                <a:solidFill>
                  <a:schemeClr val="bg1"/>
                </a:solidFill>
              </a:rPr>
              <a:t> (diretório de trabalho) ao</a:t>
            </a:r>
          </a:p>
          <a:p>
            <a:r>
              <a:rPr lang="pt-BR" sz="2800" dirty="0" err="1">
                <a:solidFill>
                  <a:schemeClr val="bg1"/>
                </a:solidFill>
              </a:rPr>
              <a:t>staging</a:t>
            </a:r>
            <a:r>
              <a:rPr lang="pt-BR" sz="2800" dirty="0">
                <a:solidFill>
                  <a:schemeClr val="bg1"/>
                </a:solidFill>
              </a:rPr>
              <a:t> área(área de preparação) no </a:t>
            </a:r>
            <a:r>
              <a:rPr lang="pt-BR" sz="2800" dirty="0" err="1">
                <a:solidFill>
                  <a:schemeClr val="bg1"/>
                </a:solidFill>
              </a:rPr>
              <a:t>Git</a:t>
            </a:r>
            <a:r>
              <a:rPr lang="pt-BR" sz="2800" dirty="0">
                <a:solidFill>
                  <a:schemeClr val="bg1"/>
                </a:solidFill>
              </a:rPr>
              <a:t>.</a:t>
            </a:r>
          </a:p>
          <a:p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commit</a:t>
            </a:r>
            <a:r>
              <a:rPr lang="pt-BR" sz="2800" b="1" dirty="0">
                <a:solidFill>
                  <a:schemeClr val="bg1"/>
                </a:solidFill>
              </a:rPr>
              <a:t> -m “mensagem” </a:t>
            </a:r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Cria uma mensagem de confirmação especificada para alteração adicionada.</a:t>
            </a:r>
          </a:p>
          <a:p>
            <a:endParaRPr lang="pt-BR" sz="2800" dirty="0">
              <a:solidFill>
                <a:schemeClr val="bg1"/>
              </a:solidFill>
            </a:endParaRPr>
          </a:p>
          <a:p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branch</a:t>
            </a:r>
            <a:r>
              <a:rPr lang="pt-BR" sz="2800" b="1" dirty="0">
                <a:solidFill>
                  <a:schemeClr val="bg1"/>
                </a:solidFill>
              </a:rPr>
              <a:t> -M </a:t>
            </a:r>
            <a:r>
              <a:rPr lang="pt-BR" sz="2800" b="1" dirty="0" err="1">
                <a:solidFill>
                  <a:schemeClr val="bg1"/>
                </a:solidFill>
              </a:rPr>
              <a:t>main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Muda o nome da </a:t>
            </a:r>
            <a:r>
              <a:rPr lang="pt-BR" sz="2800" dirty="0" err="1">
                <a:solidFill>
                  <a:schemeClr val="bg1"/>
                </a:solidFill>
              </a:rPr>
              <a:t>branch</a:t>
            </a:r>
            <a:r>
              <a:rPr lang="pt-BR" sz="2800" dirty="0">
                <a:solidFill>
                  <a:schemeClr val="bg1"/>
                </a:solidFill>
              </a:rPr>
              <a:t> principal para </a:t>
            </a:r>
            <a:r>
              <a:rPr lang="pt-BR" sz="2800" dirty="0" err="1">
                <a:solidFill>
                  <a:schemeClr val="bg1"/>
                </a:solidFill>
              </a:rPr>
              <a:t>main</a:t>
            </a:r>
            <a:r>
              <a:rPr lang="pt-BR" sz="2800" dirty="0">
                <a:solidFill>
                  <a:schemeClr val="bg1"/>
                </a:solidFill>
              </a:rPr>
              <a:t>.</a:t>
            </a:r>
            <a:br>
              <a:rPr lang="pt-BR" sz="2800" b="1" dirty="0">
                <a:solidFill>
                  <a:schemeClr val="bg1"/>
                </a:solidFill>
              </a:rPr>
            </a:br>
            <a:br>
              <a:rPr lang="pt-BR" sz="2800" dirty="0">
                <a:solidFill>
                  <a:schemeClr val="bg1"/>
                </a:solidFill>
              </a:rPr>
            </a:br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remote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add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origin</a:t>
            </a:r>
            <a:r>
              <a:rPr lang="pt-BR" sz="2800" b="1" dirty="0">
                <a:solidFill>
                  <a:schemeClr val="bg1"/>
                </a:solidFill>
              </a:rPr>
              <a:t> https://github.com... </a:t>
            </a:r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Conecta o </a:t>
            </a:r>
            <a:r>
              <a:rPr lang="pt-BR" sz="2800" dirty="0" err="1">
                <a:solidFill>
                  <a:schemeClr val="bg1"/>
                </a:solidFill>
              </a:rPr>
              <a:t>repositorio</a:t>
            </a:r>
            <a:r>
              <a:rPr lang="pt-BR" sz="2800" dirty="0">
                <a:solidFill>
                  <a:schemeClr val="bg1"/>
                </a:solidFill>
              </a:rPr>
              <a:t> </a:t>
            </a:r>
            <a:r>
              <a:rPr lang="pt-BR" sz="2800" dirty="0" err="1">
                <a:solidFill>
                  <a:schemeClr val="bg1"/>
                </a:solidFill>
              </a:rPr>
              <a:t>Git</a:t>
            </a:r>
            <a:r>
              <a:rPr lang="pt-BR" sz="2800" dirty="0">
                <a:solidFill>
                  <a:schemeClr val="bg1"/>
                </a:solidFill>
              </a:rPr>
              <a:t> com o repositório remoto indicando por uma URL.</a:t>
            </a:r>
          </a:p>
          <a:p>
            <a:endParaRPr lang="pt-BR" sz="2800" dirty="0">
              <a:solidFill>
                <a:schemeClr val="bg1"/>
              </a:solidFill>
            </a:endParaRPr>
          </a:p>
          <a:p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push</a:t>
            </a:r>
            <a:r>
              <a:rPr lang="pt-BR" sz="2800" b="1" dirty="0">
                <a:solidFill>
                  <a:schemeClr val="bg1"/>
                </a:solidFill>
              </a:rPr>
              <a:t> u </a:t>
            </a:r>
            <a:r>
              <a:rPr lang="pt-BR" sz="2800" b="1" dirty="0" err="1">
                <a:solidFill>
                  <a:schemeClr val="bg1"/>
                </a:solidFill>
              </a:rPr>
              <a:t>origin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main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br>
              <a:rPr lang="pt-BR" sz="2800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Envia as alterações do repositório local para o repositório remoto,</a:t>
            </a:r>
          </a:p>
          <a:p>
            <a:r>
              <a:rPr lang="pt-BR" sz="2800" dirty="0">
                <a:solidFill>
                  <a:schemeClr val="bg1"/>
                </a:solidFill>
              </a:rPr>
              <a:t>forçando uma criação de uma </a:t>
            </a:r>
            <a:r>
              <a:rPr lang="pt-BR" sz="2800" dirty="0" err="1">
                <a:solidFill>
                  <a:schemeClr val="bg1"/>
                </a:solidFill>
              </a:rPr>
              <a:t>branch</a:t>
            </a:r>
            <a:r>
              <a:rPr lang="pt-BR" sz="2800" dirty="0">
                <a:solidFill>
                  <a:schemeClr val="bg1"/>
                </a:solidFill>
              </a:rPr>
              <a:t> </a:t>
            </a:r>
            <a:r>
              <a:rPr lang="pt-BR" sz="2800" dirty="0" err="1">
                <a:solidFill>
                  <a:schemeClr val="bg1"/>
                </a:solidFill>
              </a:rPr>
              <a:t>main</a:t>
            </a:r>
            <a:r>
              <a:rPr lang="pt-BR" sz="2800" dirty="0">
                <a:solidFill>
                  <a:schemeClr val="bg1"/>
                </a:solidFill>
              </a:rPr>
              <a:t>, caso a </a:t>
            </a:r>
            <a:r>
              <a:rPr lang="pt-BR" sz="2800" dirty="0" err="1">
                <a:solidFill>
                  <a:schemeClr val="bg1"/>
                </a:solidFill>
              </a:rPr>
              <a:t>branch</a:t>
            </a:r>
            <a:r>
              <a:rPr lang="pt-BR" sz="2800" dirty="0">
                <a:solidFill>
                  <a:schemeClr val="bg1"/>
                </a:solidFill>
              </a:rPr>
              <a:t> já exista, não será criado.</a:t>
            </a:r>
          </a:p>
        </p:txBody>
      </p:sp>
    </p:spTree>
    <p:extLst>
      <p:ext uri="{BB962C8B-B14F-4D97-AF65-F5344CB8AC3E}">
        <p14:creationId xmlns:p14="http://schemas.microsoft.com/office/powerpoint/2010/main" val="2361015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60ECCE8-0A98-BFDA-AD05-4A8FC5A7C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3442E7D-9767-E7CD-DF18-51A572BBEE87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3BC323C-28AE-87F6-9E7B-5FDD3B8CE54D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F535B93-2CF7-39CD-92DA-34F4804E9F46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447CB37-0EA2-726F-B62E-D50C5292E409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03D8720-696C-17D8-19E1-234EEF056659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EC0EDD2-6B71-8B5E-53BC-DDA63B1FFAE3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F838BDC-A74D-9459-5AE3-5C52F3FAC472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FD8E040-200E-9A72-3BB1-7BF788056BBD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A79BA90-9EB7-33F7-F907-6B8903F02D3F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4143D1F-386A-E4B0-F5F6-4BBB040F21FC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7732049-F822-D74E-9123-90BE09BE584A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087AFC80-6102-8026-64CF-AF9F3301874C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9B109FA-6961-BEB5-4424-4F7B6307970E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6A218A5-7289-0329-2287-02E8C8F4ABE9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B807B8E-E84D-D59B-CA69-F44F15886285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D06576E-E36A-4BCA-398D-C9455954BA60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D2AF99BB-92BB-05F8-3D98-970E91E26460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47E23C13-5857-10F8-78AF-98CD94C28CE8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0CF65746-7A26-7F33-8986-43823E035AF2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E46750D3-4E50-1E75-B879-B742456FACF6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EB639FE6-F8A3-5BD0-E61D-D061A7E8C7C1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AFF3CF1A-D7ED-CE32-356A-BE5B8BBC87CD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8A3305F9-1B68-6D1C-BCBE-89C1D17E852E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D946D671-C88B-1F61-3357-D25229B138B2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797A027-5BA7-EE2B-81D0-7BD964C3F75B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AD5AD537-652B-7E9D-746E-46BBDEFB21CA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A49A207-C212-20F5-C842-BB492902FAA7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06C258C8-549F-CAAF-1254-15FCDE3C582B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5645A37C-5D7A-8145-B612-3624F8EF2B7D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D1C6865-DA95-039D-84F1-E2CA1AE06F2F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164A762B-DB4F-0A7A-18BC-8A4A288473A1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442D3A7F-F2DF-0A52-DD4D-15810489E376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F94A47B9-7411-F1AB-4012-E5AEC270EBEB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96DD92AA-B5DC-A04E-D5C6-9884A372E045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341755C0-63C2-0702-969A-62B2F23ABFB6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76DF3208-7817-1F31-8C72-3693B491271C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D014EF06-4041-AAD7-9ADB-B0C558E84B65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3E58527E-EF8C-A357-4286-ECB5EB9D372D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EC539EBE-80D6-948F-1B9A-776868E3B8C2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D50D4476-21E5-3245-08CC-32E638FE7232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5AC9C2EE-1B8F-A099-9D5B-0BB22E099AC3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435BCC01-52E1-9AA4-D916-E82F95F0FA2D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6A9CBCEE-A368-30BD-AC03-4355B86CE74F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6FC0D560-6EB7-8593-70BD-73DB058B7B85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1F70B744-B90D-1336-074B-50318F05C8B6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A49315CB-4C47-97F9-6D95-C9A507E5CF34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CE3FE5EE-E1CF-4AA7-21FC-05C2DD9DC383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D697045E-D0C2-7184-7C70-BA0F8A188463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A18C6BFC-DDB9-30BF-4763-5DC7E0259033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AF738219-4EFF-116F-EF24-9F94DFAAE313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EDE7C30F-801C-5AE9-A281-979543E7FBC4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4B04D947-898F-2971-7412-5500FCA09AD5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C1B3D8A1-B081-2EDC-DE2C-11E9DA3F650A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FC6F189C-DF80-AE9D-C09F-97D33158806E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1EBA3A1D-0661-6BF0-6FB5-026E2B9F1014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A269C6B9-D0A4-BE08-F01D-621E047704DA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9C7623FA-357F-E69C-DEE5-B215638A6E19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2A8DD8F5-6270-1EE0-F9A9-CB1D4149521C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6E024971-3BAF-D0DE-3DC3-A8BC3DE59386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F7600258-024D-FE02-678A-363920AF1643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6FFDFA53-A6E8-122E-FD0C-8AADF7EB516F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E94AFEDD-4A64-3F14-9809-42EC496FC20A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D649BB83-4C38-921A-4561-8CBA530A7A93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1497F596-0C21-2572-8CF2-0719B67D6CA9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C938B3AF-9B7B-8BF7-057E-6BA5AB421B4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46966A2D-0938-07BA-C2E1-2F1EC0039B4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F0EFCFC0-138E-B90F-987D-252FB7FCFB8F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56C581D-C447-DE5E-4573-2A210A0FEA1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084696D6-778B-2A9D-2C44-733BBD7B33D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15">
            <a:extLst>
              <a:ext uri="{FF2B5EF4-FFF2-40B4-BE49-F238E27FC236}">
                <a16:creationId xmlns:a16="http://schemas.microsoft.com/office/drawing/2014/main" id="{E94A6FDE-D307-B7C1-4F83-74FBFB86015C}"/>
              </a:ext>
            </a:extLst>
          </p:cNvPr>
          <p:cNvSpPr txBox="1">
            <a:spLocks/>
          </p:cNvSpPr>
          <p:nvPr/>
        </p:nvSpPr>
        <p:spPr>
          <a:xfrm>
            <a:off x="1509064" y="984549"/>
            <a:ext cx="13331801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/>
                </a:solidFill>
                <a:latin typeface="Montserrat ExtraBold"/>
                <a:cs typeface="Montserrat ExtraBold"/>
              </a:rPr>
              <a:t>GIT: Sequência de comandos (remoto)</a:t>
            </a:r>
            <a:endParaRPr lang="pt-BR" sz="4950" kern="0" dirty="0">
              <a:solidFill>
                <a:schemeClr val="bg1"/>
              </a:solidFill>
              <a:latin typeface="Montserrat ExtraBold"/>
              <a:cs typeface="Montserrat ExtraBold"/>
            </a:endParaRP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83651FDD-DB7F-F49F-BF2A-6AC10DD89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switch case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é uma estrutura de controle de fluxo usada para tomar decisões no código, de forma parecida com o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Ele é útil quando temos várias opções para uma mesma variável e queremos evitar escrever vários </a:t>
            </a: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pt-BR" altLang="pt-BR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seguidos. 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8" name="object 16">
            <a:extLst>
              <a:ext uri="{FF2B5EF4-FFF2-40B4-BE49-F238E27FC236}">
                <a16:creationId xmlns:a16="http://schemas.microsoft.com/office/drawing/2014/main" id="{F35CFA52-3495-C941-22E5-5934EEF835C8}"/>
              </a:ext>
            </a:extLst>
          </p:cNvPr>
          <p:cNvSpPr txBox="1"/>
          <p:nvPr/>
        </p:nvSpPr>
        <p:spPr>
          <a:xfrm>
            <a:off x="1570283" y="1991935"/>
            <a:ext cx="15069845" cy="6487673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clone https://github.com... </a:t>
            </a:r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Cria uma cópia de um repositório </a:t>
            </a:r>
            <a:r>
              <a:rPr lang="pt-BR" sz="2800" dirty="0" err="1">
                <a:solidFill>
                  <a:schemeClr val="bg1"/>
                </a:solidFill>
              </a:rPr>
              <a:t>Git</a:t>
            </a:r>
            <a:r>
              <a:rPr lang="pt-BR" sz="2800" dirty="0">
                <a:solidFill>
                  <a:schemeClr val="bg1"/>
                </a:solidFill>
              </a:rPr>
              <a:t> remoto em seu computador</a:t>
            </a:r>
            <a:br>
              <a:rPr lang="pt-BR" sz="2800" dirty="0">
                <a:solidFill>
                  <a:schemeClr val="bg1"/>
                </a:solidFill>
              </a:rPr>
            </a:br>
            <a:endParaRPr lang="pt-BR" sz="2800" dirty="0">
              <a:solidFill>
                <a:schemeClr val="bg1"/>
              </a:solidFill>
            </a:endParaRPr>
          </a:p>
          <a:p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add</a:t>
            </a:r>
            <a:r>
              <a:rPr lang="pt-BR" sz="2800" b="1" dirty="0">
                <a:solidFill>
                  <a:schemeClr val="bg1"/>
                </a:solidFill>
              </a:rPr>
              <a:t> .</a:t>
            </a:r>
          </a:p>
          <a:p>
            <a:r>
              <a:rPr lang="pt-BR" sz="2800" dirty="0">
                <a:solidFill>
                  <a:schemeClr val="bg1"/>
                </a:solidFill>
              </a:rPr>
              <a:t>Adiciona todas as alterações do </a:t>
            </a:r>
            <a:r>
              <a:rPr lang="pt-BR" sz="2800" dirty="0" err="1">
                <a:solidFill>
                  <a:schemeClr val="bg1"/>
                </a:solidFill>
              </a:rPr>
              <a:t>working</a:t>
            </a:r>
            <a:r>
              <a:rPr lang="pt-BR" sz="2800" dirty="0">
                <a:solidFill>
                  <a:schemeClr val="bg1"/>
                </a:solidFill>
              </a:rPr>
              <a:t> </a:t>
            </a:r>
            <a:r>
              <a:rPr lang="pt-BR" sz="2800" dirty="0" err="1">
                <a:solidFill>
                  <a:schemeClr val="bg1"/>
                </a:solidFill>
              </a:rPr>
              <a:t>directory</a:t>
            </a:r>
            <a:r>
              <a:rPr lang="pt-BR" sz="2800" dirty="0">
                <a:solidFill>
                  <a:schemeClr val="bg1"/>
                </a:solidFill>
              </a:rPr>
              <a:t> (diretório de trabalho) ao</a:t>
            </a:r>
          </a:p>
          <a:p>
            <a:r>
              <a:rPr lang="pt-BR" sz="2800" dirty="0" err="1">
                <a:solidFill>
                  <a:schemeClr val="bg1"/>
                </a:solidFill>
              </a:rPr>
              <a:t>staging</a:t>
            </a:r>
            <a:r>
              <a:rPr lang="pt-BR" sz="2800" dirty="0">
                <a:solidFill>
                  <a:schemeClr val="bg1"/>
                </a:solidFill>
              </a:rPr>
              <a:t> área(área de preparação) no </a:t>
            </a:r>
            <a:r>
              <a:rPr lang="pt-BR" sz="2800" dirty="0" err="1">
                <a:solidFill>
                  <a:schemeClr val="bg1"/>
                </a:solidFill>
              </a:rPr>
              <a:t>Git</a:t>
            </a:r>
            <a:r>
              <a:rPr lang="pt-BR" sz="2800" dirty="0">
                <a:solidFill>
                  <a:schemeClr val="bg1"/>
                </a:solidFill>
              </a:rPr>
              <a:t>.</a:t>
            </a:r>
          </a:p>
          <a:p>
            <a:endParaRPr lang="pt-BR" sz="2800" dirty="0">
              <a:solidFill>
                <a:schemeClr val="bg1"/>
              </a:solidFill>
            </a:endParaRPr>
          </a:p>
          <a:p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status </a:t>
            </a:r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Exibe informações como arquivos modificados, arquivos que foram removidos, entre outros...</a:t>
            </a:r>
          </a:p>
          <a:p>
            <a:endParaRPr lang="pt-BR" sz="2800" dirty="0">
              <a:solidFill>
                <a:schemeClr val="bg1"/>
              </a:solidFill>
            </a:endParaRPr>
          </a:p>
          <a:p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commit</a:t>
            </a:r>
            <a:r>
              <a:rPr lang="pt-BR" sz="2800" b="1" dirty="0">
                <a:solidFill>
                  <a:schemeClr val="bg1"/>
                </a:solidFill>
              </a:rPr>
              <a:t> -m “mensagem” </a:t>
            </a:r>
            <a:br>
              <a:rPr lang="pt-BR" sz="2800" b="1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Cria uma mensagem de confirmação especificada para alteração adicionada.</a:t>
            </a:r>
          </a:p>
          <a:p>
            <a:endParaRPr lang="pt-BR" sz="2800" dirty="0">
              <a:solidFill>
                <a:schemeClr val="bg1"/>
              </a:solidFill>
            </a:endParaRPr>
          </a:p>
          <a:p>
            <a:r>
              <a:rPr lang="pt-BR" sz="2800" b="1" dirty="0" err="1">
                <a:solidFill>
                  <a:schemeClr val="bg1"/>
                </a:solidFill>
              </a:rPr>
              <a:t>git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push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origin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r>
              <a:rPr lang="pt-BR" sz="2800" b="1" dirty="0" err="1">
                <a:solidFill>
                  <a:schemeClr val="bg1"/>
                </a:solidFill>
              </a:rPr>
              <a:t>main</a:t>
            </a:r>
            <a:r>
              <a:rPr lang="pt-BR" sz="2800" b="1" dirty="0">
                <a:solidFill>
                  <a:schemeClr val="bg1"/>
                </a:solidFill>
              </a:rPr>
              <a:t> </a:t>
            </a:r>
            <a:br>
              <a:rPr lang="pt-BR" sz="2800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Envia os </a:t>
            </a:r>
            <a:r>
              <a:rPr lang="pt-BR" sz="2800" dirty="0" err="1">
                <a:solidFill>
                  <a:schemeClr val="bg1"/>
                </a:solidFill>
              </a:rPr>
              <a:t>commits</a:t>
            </a:r>
            <a:r>
              <a:rPr lang="pt-BR" sz="2800" dirty="0">
                <a:solidFill>
                  <a:schemeClr val="bg1"/>
                </a:solidFill>
              </a:rPr>
              <a:t> local, para o repositório remoto, da </a:t>
            </a:r>
            <a:r>
              <a:rPr lang="pt-BR" sz="2800" dirty="0" err="1">
                <a:solidFill>
                  <a:schemeClr val="bg1"/>
                </a:solidFill>
              </a:rPr>
              <a:t>branch</a:t>
            </a:r>
            <a:r>
              <a:rPr lang="pt-BR" sz="2800" dirty="0">
                <a:solidFill>
                  <a:schemeClr val="bg1"/>
                </a:solidFill>
              </a:rPr>
              <a:t> </a:t>
            </a:r>
            <a:r>
              <a:rPr lang="pt-BR" sz="2800" dirty="0" err="1">
                <a:solidFill>
                  <a:schemeClr val="bg1"/>
                </a:solidFill>
              </a:rPr>
              <a:t>main</a:t>
            </a:r>
            <a:endParaRPr lang="pt-B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218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556"/>
            <a:chOff x="0" y="0"/>
            <a:chExt cx="20104100" cy="1130855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35576" y="4635933"/>
            <a:ext cx="51149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</a:rPr>
              <a:t>DEPARTAMENTO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REGIONAL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0231201" y="5107290"/>
            <a:ext cx="6974205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ts val="327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2800" b="1" spc="-3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2800" b="1" spc="-2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2800">
              <a:latin typeface="Montserrat ExtraBold"/>
              <a:cs typeface="Montserrat ExtraBold"/>
            </a:endParaRPr>
          </a:p>
          <a:p>
            <a:pPr marL="12700">
              <a:lnSpc>
                <a:spcPts val="8009"/>
              </a:lnSpc>
            </a:pPr>
            <a:r>
              <a:rPr sz="6750" spc="-2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ww</a:t>
            </a:r>
            <a:r>
              <a:rPr sz="6750" spc="-22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</a:t>
            </a:r>
            <a:r>
              <a:rPr sz="675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</a:t>
            </a:r>
            <a:r>
              <a:rPr sz="6750" spc="-10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p</a:t>
            </a:r>
            <a:r>
              <a:rPr sz="6750" spc="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.senai.br</a:t>
            </a:r>
            <a:endParaRPr sz="6750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4154076"/>
            <a:ext cx="20104100" cy="7154545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1C1FFBC5B64943BE6D3064162973C9" ma:contentTypeVersion="13" ma:contentTypeDescription="Crie um novo documento." ma:contentTypeScope="" ma:versionID="40fa6b34c81f3a289ccbc7b1e1965271">
  <xsd:schema xmlns:xsd="http://www.w3.org/2001/XMLSchema" xmlns:xs="http://www.w3.org/2001/XMLSchema" xmlns:p="http://schemas.microsoft.com/office/2006/metadata/properties" xmlns:ns2="2bd5af90-2c43-4f56-be08-340e2f91aafd" xmlns:ns3="b9c37b37-d0ad-42a5-892e-3cb8fae6311e" targetNamespace="http://schemas.microsoft.com/office/2006/metadata/properties" ma:root="true" ma:fieldsID="8fc80ff9e100d70d9cbefb719233993e" ns2:_="" ns3:_="">
    <xsd:import namespace="2bd5af90-2c43-4f56-be08-340e2f91aafd"/>
    <xsd:import namespace="b9c37b37-d0ad-42a5-892e-3cb8fae631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5af90-2c43-4f56-be08-340e2f91aa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37b37-d0ad-42a5-892e-3cb8fae6311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E43EA8-E4F7-4FB4-A903-CFCDB99F0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d5af90-2c43-4f56-be08-340e2f91aafd"/>
    <ds:schemaRef ds:uri="b9c37b37-d0ad-42a5-892e-3cb8fae631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A42D19-56A1-4D0B-AB84-67451006DC5A}">
  <ds:schemaRefs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b9c37b37-d0ad-42a5-892e-3cb8fae6311e"/>
    <ds:schemaRef ds:uri="2bd5af90-2c43-4f56-be08-340e2f91aafd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2388</TotalTime>
  <Words>1085</Words>
  <Application>Microsoft Office PowerPoint</Application>
  <PresentationFormat>Personalizar</PresentationFormat>
  <Paragraphs>82</Paragraphs>
  <Slides>12</Slides>
  <Notes>10</Notes>
  <HiddenSlides>2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Montserrat ExtraBold</vt:lpstr>
      <vt:lpstr>Montserrat</vt:lpstr>
      <vt:lpstr>Montserrat Light</vt:lpstr>
      <vt:lpstr>Calibri</vt:lpstr>
      <vt:lpstr>Arial Unicode MS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DEPARTAMENTO REGIONAL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Kessia Milena da Silva Machado</cp:lastModifiedBy>
  <cp:revision>103</cp:revision>
  <dcterms:created xsi:type="dcterms:W3CDTF">2021-08-24T16:20:14Z</dcterms:created>
  <dcterms:modified xsi:type="dcterms:W3CDTF">2025-03-13T17:01:20Z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0x0101001C1C1FFBC5B64943BE6D3064162973C9</vt:lpwstr>
  </property>
</Properties>
</file>